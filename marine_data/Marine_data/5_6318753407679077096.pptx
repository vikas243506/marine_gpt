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562" r:id="rId3"/>
    <p:sldId id="563" r:id="rId4"/>
    <p:sldId id="564" r:id="rId5"/>
    <p:sldId id="565" r:id="rId6"/>
    <p:sldId id="566" r:id="rId7"/>
    <p:sldId id="575" r:id="rId8"/>
    <p:sldId id="576" r:id="rId9"/>
    <p:sldId id="567" r:id="rId10"/>
    <p:sldId id="568" r:id="rId11"/>
    <p:sldId id="569" r:id="rId12"/>
    <p:sldId id="570" r:id="rId13"/>
    <p:sldId id="571" r:id="rId14"/>
    <p:sldId id="5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C4E562-FC52-4FED-99C3-E48C2449F30C}">
          <p14:sldIdLst>
            <p14:sldId id="256"/>
          </p14:sldIdLst>
        </p14:section>
        <p14:section name="Q" id="{8C099890-13FB-40EE-8F2A-6A44C05E13DE}">
          <p14:sldIdLst>
            <p14:sldId id="562"/>
            <p14:sldId id="563"/>
            <p14:sldId id="564"/>
            <p14:sldId id="565"/>
            <p14:sldId id="566"/>
            <p14:sldId id="575"/>
            <p14:sldId id="576"/>
            <p14:sldId id="567"/>
            <p14:sldId id="568"/>
            <p14:sldId id="569"/>
            <p14:sldId id="570"/>
            <p14:sldId id="571"/>
            <p14:sldId id="5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89" d="100"/>
          <a:sy n="89" d="100"/>
        </p:scale>
        <p:origin x="631" y="4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5D080-6E7B-48A4-23AF-04F027AB8F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F4AF31-D626-FD1D-B7FA-605D786AC1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9300BB-A63F-50CB-B339-A799C1E49C61}"/>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5" name="Footer Placeholder 4">
            <a:extLst>
              <a:ext uri="{FF2B5EF4-FFF2-40B4-BE49-F238E27FC236}">
                <a16:creationId xmlns:a16="http://schemas.microsoft.com/office/drawing/2014/main" id="{4C865D22-7E0A-A944-99AD-CCBD681C0B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5FE87-9625-321D-968C-8FA48E88E84D}"/>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602260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4D908-8D97-E1C3-11FB-7D8920931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3C64D4-4574-728E-85AE-C1FAC33FCC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DC45F-3852-37A4-84CD-69738ED9559D}"/>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5" name="Footer Placeholder 4">
            <a:extLst>
              <a:ext uri="{FF2B5EF4-FFF2-40B4-BE49-F238E27FC236}">
                <a16:creationId xmlns:a16="http://schemas.microsoft.com/office/drawing/2014/main" id="{D35EF477-16BF-6893-F1E6-FF921093A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3F4D1-B4B5-5774-FED8-67532C9332AC}"/>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935096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8865-1937-576C-763D-98762D8E16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28A61E-5205-EAC7-4E47-D38A1CA69C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C0E424-73B3-D3DF-6764-4C3D5A5CC962}"/>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5" name="Footer Placeholder 4">
            <a:extLst>
              <a:ext uri="{FF2B5EF4-FFF2-40B4-BE49-F238E27FC236}">
                <a16:creationId xmlns:a16="http://schemas.microsoft.com/office/drawing/2014/main" id="{13F94C75-C553-B75B-5CD1-77E02A071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789009-D008-C54D-C5BE-BD044AD272F9}"/>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2304732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89155-BD7A-AE58-8E9A-3887D8D92D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AD8013-70C1-5B7A-A0B4-031384F6E5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CCD667-0D65-FE3A-BDF6-9A62E10399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993942-3235-C406-B0B4-94577DD1CCDB}"/>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6" name="Footer Placeholder 5">
            <a:extLst>
              <a:ext uri="{FF2B5EF4-FFF2-40B4-BE49-F238E27FC236}">
                <a16:creationId xmlns:a16="http://schemas.microsoft.com/office/drawing/2014/main" id="{DB638689-BE49-DCBA-2047-7923A76E44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DE9CAC-CDD1-91DF-42E1-D14021DE45B9}"/>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2285604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98C5D-BACD-E2D9-55D2-E518D05339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B08190-A6F9-5959-B774-F08EAEFD98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858046-E8EF-E18D-D437-F86245DB7A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A73F1D-0512-CF67-34F8-F1FC119CCA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4A0072-375B-70C3-9204-009A6985B2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EEFBD1-72F8-089E-2BDF-0D8E24074BDF}"/>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8" name="Footer Placeholder 7">
            <a:extLst>
              <a:ext uri="{FF2B5EF4-FFF2-40B4-BE49-F238E27FC236}">
                <a16:creationId xmlns:a16="http://schemas.microsoft.com/office/drawing/2014/main" id="{C9F139E5-3D03-EA75-FF4A-14797D37BE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F1BEC6-FC31-F183-6AAD-E653C88BD5A9}"/>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102351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48415-6B53-9E47-0CCF-976F592394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B04B68-576B-2218-EBB1-2A38046D5BA4}"/>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4" name="Footer Placeholder 3">
            <a:extLst>
              <a:ext uri="{FF2B5EF4-FFF2-40B4-BE49-F238E27FC236}">
                <a16:creationId xmlns:a16="http://schemas.microsoft.com/office/drawing/2014/main" id="{22438031-BD2C-ABEB-C232-BC7D28AB13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15179F-0ED5-CE00-E33E-08E2206639E0}"/>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448328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43CDB8-A0D0-7889-A3A3-8AF23DFE8FF7}"/>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3" name="Footer Placeholder 2">
            <a:extLst>
              <a:ext uri="{FF2B5EF4-FFF2-40B4-BE49-F238E27FC236}">
                <a16:creationId xmlns:a16="http://schemas.microsoft.com/office/drawing/2014/main" id="{D06955E0-363B-2F0E-B6BF-7876622051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9C0442-C38E-4320-71AB-D89C668C5725}"/>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180151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58BC-BA5F-C9A0-1EB7-FE368A06C1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F857EB0-3908-96B1-A0B4-F6E085C3C7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9102F0-0C0C-759F-BEAA-59D85E5409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EF1551-8AFE-B16B-1524-512F4B009830}"/>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6" name="Footer Placeholder 5">
            <a:extLst>
              <a:ext uri="{FF2B5EF4-FFF2-40B4-BE49-F238E27FC236}">
                <a16:creationId xmlns:a16="http://schemas.microsoft.com/office/drawing/2014/main" id="{3F09A972-716F-08A3-5EE7-5221AE439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AC6B5C-8AE4-AC69-B693-F9BEC01FDC0A}"/>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275212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F598A-EDE4-0F12-2420-3275A6894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75A658-87D8-50AB-FBFE-B8EE36FEDF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77A089-83E7-17C7-0F61-8C40007551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95EB5-B162-AA0B-DA2F-D2DB591F1C6C}"/>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6" name="Footer Placeholder 5">
            <a:extLst>
              <a:ext uri="{FF2B5EF4-FFF2-40B4-BE49-F238E27FC236}">
                <a16:creationId xmlns:a16="http://schemas.microsoft.com/office/drawing/2014/main" id="{2EDCA235-6F31-F93C-9006-695FD59228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4A3ED9-9BEB-38F0-306A-44635C4CCA2D}"/>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18172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33C7F-87D2-BFB9-50D6-0F4331F8064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B1E01-2A80-CCE8-2773-845189626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D944E-551C-A3F1-38F9-76B46625989F}"/>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5" name="Footer Placeholder 4">
            <a:extLst>
              <a:ext uri="{FF2B5EF4-FFF2-40B4-BE49-F238E27FC236}">
                <a16:creationId xmlns:a16="http://schemas.microsoft.com/office/drawing/2014/main" id="{DC5B388F-2E89-44C1-36EC-C78E2DA2A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56F44-538F-3F7B-AB0B-B8CCBBA23847}"/>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644394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E42E55-467B-DD2C-E7A9-DE8438E3A1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DDE6FF-CE77-8A83-D49F-12576094A8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AAA962-AD5F-7397-1BE5-9A5A2196111D}"/>
              </a:ext>
            </a:extLst>
          </p:cNvPr>
          <p:cNvSpPr>
            <a:spLocks noGrp="1"/>
          </p:cNvSpPr>
          <p:nvPr>
            <p:ph type="dt" sz="half" idx="10"/>
          </p:nvPr>
        </p:nvSpPr>
        <p:spPr/>
        <p:txBody>
          <a:bodyPr/>
          <a:lstStyle/>
          <a:p>
            <a:fld id="{83FDC7CE-6FB5-47C7-A0F7-C096F6BF13A4}" type="datetimeFigureOut">
              <a:rPr lang="en-US" smtClean="0"/>
              <a:t>1/25/2026</a:t>
            </a:fld>
            <a:endParaRPr lang="en-US"/>
          </a:p>
        </p:txBody>
      </p:sp>
      <p:sp>
        <p:nvSpPr>
          <p:cNvPr id="5" name="Footer Placeholder 4">
            <a:extLst>
              <a:ext uri="{FF2B5EF4-FFF2-40B4-BE49-F238E27FC236}">
                <a16:creationId xmlns:a16="http://schemas.microsoft.com/office/drawing/2014/main" id="{149F47BC-4F6D-309C-79C3-D4024A295C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CF5CB-F7FE-B9E3-EB81-F8D5895D4151}"/>
              </a:ext>
            </a:extLst>
          </p:cNvPr>
          <p:cNvSpPr>
            <a:spLocks noGrp="1"/>
          </p:cNvSpPr>
          <p:nvPr>
            <p:ph type="sldNum" sz="quarter" idx="12"/>
          </p:nvPr>
        </p:nvSpPr>
        <p:spPr/>
        <p:txBody>
          <a:bodyPr/>
          <a:lstStyle/>
          <a:p>
            <a:fld id="{11A4E133-2BCB-474A-803A-251187D4E6AC}" type="slidenum">
              <a:rPr lang="en-US" smtClean="0"/>
              <a:t>‹#›</a:t>
            </a:fld>
            <a:endParaRPr lang="en-US"/>
          </a:p>
        </p:txBody>
      </p:sp>
    </p:spTree>
    <p:extLst>
      <p:ext uri="{BB962C8B-B14F-4D97-AF65-F5344CB8AC3E}">
        <p14:creationId xmlns:p14="http://schemas.microsoft.com/office/powerpoint/2010/main" val="3830693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9BFB14-61A3-4630-7A4C-6B37824740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66AE69-E2C0-8D26-F147-408143D91E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E7CEBF-7184-1879-2D78-F894A46D3A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FDC7CE-6FB5-47C7-A0F7-C096F6BF13A4}" type="datetimeFigureOut">
              <a:rPr lang="en-US" smtClean="0"/>
              <a:t>1/25/2026</a:t>
            </a:fld>
            <a:endParaRPr lang="en-US"/>
          </a:p>
        </p:txBody>
      </p:sp>
      <p:sp>
        <p:nvSpPr>
          <p:cNvPr id="5" name="Footer Placeholder 4">
            <a:extLst>
              <a:ext uri="{FF2B5EF4-FFF2-40B4-BE49-F238E27FC236}">
                <a16:creationId xmlns:a16="http://schemas.microsoft.com/office/drawing/2014/main" id="{FDB97891-D807-7371-0FA7-F087A644A4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D6F1270-B7A2-9A39-B2A5-1145E7B579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A4E133-2BCB-474A-803A-251187D4E6AC}" type="slidenum">
              <a:rPr lang="en-US" smtClean="0"/>
              <a:t>‹#›</a:t>
            </a:fld>
            <a:endParaRPr lang="en-US"/>
          </a:p>
        </p:txBody>
      </p:sp>
    </p:spTree>
    <p:extLst>
      <p:ext uri="{BB962C8B-B14F-4D97-AF65-F5344CB8AC3E}">
        <p14:creationId xmlns:p14="http://schemas.microsoft.com/office/powerpoint/2010/main" val="826323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B71B-79C3-AB63-F55E-50CB39CFBFAA}"/>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A645B8D0-D0CF-C328-505C-1B8429FEBBC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84597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2173CB-5EDF-99E2-3200-6909A96A21F0}"/>
              </a:ext>
            </a:extLst>
          </p:cNvPr>
          <p:cNvSpPr txBox="1"/>
          <p:nvPr/>
        </p:nvSpPr>
        <p:spPr>
          <a:xfrm>
            <a:off x="92054" y="0"/>
            <a:ext cx="11985390" cy="1754326"/>
          </a:xfrm>
          <a:prstGeom prst="rect">
            <a:avLst/>
          </a:prstGeom>
          <a:noFill/>
        </p:spPr>
        <p:txBody>
          <a:bodyPr wrap="square">
            <a:spAutoFit/>
          </a:bodyPr>
          <a:lstStyle/>
          <a:p>
            <a:r>
              <a:rPr lang="en-US" dirty="0"/>
              <a:t>2. With reference to the burning of heavy residual fuel in the main engine: </a:t>
            </a:r>
          </a:p>
          <a:p>
            <a:endParaRPr lang="en-US" dirty="0"/>
          </a:p>
          <a:p>
            <a:pPr marL="342900" indent="-342900">
              <a:buAutoNum type="alphaLcParenBoth"/>
            </a:pPr>
            <a:r>
              <a:rPr lang="en-US" dirty="0"/>
              <a:t>State with reasons FOUR modifications which need to be made as compared with the same engine burning distillate fuels.</a:t>
            </a:r>
          </a:p>
          <a:p>
            <a:pPr marL="342900" indent="-342900">
              <a:buAutoNum type="alphaLcParenBoth"/>
            </a:pPr>
            <a:endParaRPr lang="en-US" dirty="0"/>
          </a:p>
          <a:p>
            <a:pPr marL="342900" indent="-342900">
              <a:buAutoNum type="alphaLcParenBoth"/>
            </a:pPr>
            <a:r>
              <a:rPr lang="en-US" dirty="0"/>
              <a:t>State with reasons SIX properties you would require to see in the specification for residual fuel indicating the effect EACH of these properties might have with respect to the storage and burning of the fuel.</a:t>
            </a:r>
          </a:p>
        </p:txBody>
      </p:sp>
    </p:spTree>
    <p:extLst>
      <p:ext uri="{BB962C8B-B14F-4D97-AF65-F5344CB8AC3E}">
        <p14:creationId xmlns:p14="http://schemas.microsoft.com/office/powerpoint/2010/main" val="136774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754C59-80CD-C71F-8AC2-06A66819B615}"/>
              </a:ext>
            </a:extLst>
          </p:cNvPr>
          <p:cNvSpPr txBox="1"/>
          <p:nvPr/>
        </p:nvSpPr>
        <p:spPr>
          <a:xfrm>
            <a:off x="271947" y="175761"/>
            <a:ext cx="11439205" cy="4524315"/>
          </a:xfrm>
          <a:prstGeom prst="rect">
            <a:avLst/>
          </a:prstGeom>
          <a:noFill/>
        </p:spPr>
        <p:txBody>
          <a:bodyPr wrap="square">
            <a:spAutoFit/>
          </a:bodyPr>
          <a:lstStyle/>
          <a:p>
            <a:r>
              <a:rPr lang="en-US" dirty="0"/>
              <a:t>1. Fuel Heating System (Preheaters &amp; Tracing)</a:t>
            </a:r>
          </a:p>
          <a:p>
            <a:endParaRPr lang="en-US" dirty="0"/>
          </a:p>
          <a:p>
            <a:r>
              <a:rPr lang="en-US" dirty="0"/>
              <a:t>Modification:</a:t>
            </a:r>
          </a:p>
          <a:p>
            <a:endParaRPr lang="en-US" dirty="0"/>
          </a:p>
          <a:p>
            <a:r>
              <a:rPr lang="en-US" dirty="0"/>
              <a:t>1. fuel oil heaters before engine inlet &amp; Steam tracing on pipes on fuel lines </a:t>
            </a:r>
          </a:p>
          <a:p>
            <a:endParaRPr lang="en-US" dirty="0"/>
          </a:p>
          <a:p>
            <a:r>
              <a:rPr lang="en-US" dirty="0"/>
              <a:t>Reason:</a:t>
            </a:r>
          </a:p>
          <a:p>
            <a:r>
              <a:rPr lang="en-US" dirty="0"/>
              <a:t>Heavy residual fuel has very high viscosity at ambient temperature</a:t>
            </a:r>
          </a:p>
          <a:p>
            <a:r>
              <a:rPr lang="en-US" dirty="0"/>
              <a:t>Fuel must be heated (typically to 120–150°C) to reach correct injection viscosity (~10–15 </a:t>
            </a:r>
            <a:r>
              <a:rPr lang="en-US" dirty="0" err="1"/>
              <a:t>cSt</a:t>
            </a:r>
            <a:r>
              <a:rPr lang="en-US" dirty="0"/>
              <a:t>).</a:t>
            </a:r>
          </a:p>
          <a:p>
            <a:endParaRPr lang="en-US" dirty="0"/>
          </a:p>
          <a:p>
            <a:r>
              <a:rPr lang="en-US" dirty="0"/>
              <a:t>Which will ensure </a:t>
            </a:r>
          </a:p>
          <a:p>
            <a:endParaRPr lang="en-US" dirty="0"/>
          </a:p>
          <a:p>
            <a:r>
              <a:rPr lang="en-US" dirty="0"/>
              <a:t>Proper atomization at injector</a:t>
            </a:r>
          </a:p>
          <a:p>
            <a:r>
              <a:rPr lang="en-US" dirty="0"/>
              <a:t>Stable combustion</a:t>
            </a:r>
          </a:p>
          <a:p>
            <a:r>
              <a:rPr lang="en-US" dirty="0"/>
              <a:t>Prevents pump overload and injector sticking</a:t>
            </a:r>
          </a:p>
          <a:p>
            <a:endParaRPr lang="en-US" dirty="0"/>
          </a:p>
        </p:txBody>
      </p:sp>
    </p:spTree>
    <p:extLst>
      <p:ext uri="{BB962C8B-B14F-4D97-AF65-F5344CB8AC3E}">
        <p14:creationId xmlns:p14="http://schemas.microsoft.com/office/powerpoint/2010/main" val="3766368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EA81E7-B8F8-355F-2433-1E99F05E588E}"/>
              </a:ext>
            </a:extLst>
          </p:cNvPr>
          <p:cNvSpPr txBox="1"/>
          <p:nvPr/>
        </p:nvSpPr>
        <p:spPr>
          <a:xfrm>
            <a:off x="351693" y="257880"/>
            <a:ext cx="6096000" cy="2862322"/>
          </a:xfrm>
          <a:prstGeom prst="rect">
            <a:avLst/>
          </a:prstGeom>
          <a:noFill/>
        </p:spPr>
        <p:txBody>
          <a:bodyPr wrap="square">
            <a:spAutoFit/>
          </a:bodyPr>
          <a:lstStyle/>
          <a:p>
            <a:r>
              <a:rPr lang="en-US" dirty="0"/>
              <a:t>2. Fuel Treatment System (Separators, Settling &amp; Service Tanks)</a:t>
            </a:r>
          </a:p>
          <a:p>
            <a:endParaRPr lang="en-US" dirty="0"/>
          </a:p>
          <a:p>
            <a:r>
              <a:rPr lang="en-US" dirty="0"/>
              <a:t>Modification: settling tanks ,Centrifugal purifiers</a:t>
            </a:r>
          </a:p>
          <a:p>
            <a:r>
              <a:rPr lang="en-US" dirty="0"/>
              <a:t>Since </a:t>
            </a:r>
            <a:r>
              <a:rPr lang="en-US" dirty="0" err="1"/>
              <a:t>hfo</a:t>
            </a:r>
            <a:r>
              <a:rPr lang="en-US" dirty="0"/>
              <a:t> contains Residual fuels contain ,Water</a:t>
            </a:r>
          </a:p>
          <a:p>
            <a:r>
              <a:rPr lang="en-US" dirty="0"/>
              <a:t>Catalytic fines</a:t>
            </a:r>
          </a:p>
          <a:p>
            <a:r>
              <a:rPr lang="en-US" dirty="0"/>
              <a:t>Ash and sediments</a:t>
            </a:r>
          </a:p>
          <a:p>
            <a:endParaRPr lang="en-US" dirty="0"/>
          </a:p>
          <a:p>
            <a:r>
              <a:rPr lang="en-US" dirty="0"/>
              <a:t>Purification Removes abrasive particles</a:t>
            </a:r>
          </a:p>
          <a:p>
            <a:r>
              <a:rPr lang="en-US" dirty="0"/>
              <a:t>Prevents excessive wear of pumps, injectors, liners, piston rings</a:t>
            </a:r>
          </a:p>
          <a:p>
            <a:endParaRPr lang="en-US" dirty="0"/>
          </a:p>
        </p:txBody>
      </p:sp>
    </p:spTree>
    <p:extLst>
      <p:ext uri="{BB962C8B-B14F-4D97-AF65-F5344CB8AC3E}">
        <p14:creationId xmlns:p14="http://schemas.microsoft.com/office/powerpoint/2010/main" val="4179612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4CA88E-8EB2-1BF3-2773-F0B0161508B1}"/>
              </a:ext>
            </a:extLst>
          </p:cNvPr>
          <p:cNvSpPr txBox="1"/>
          <p:nvPr/>
        </p:nvSpPr>
        <p:spPr>
          <a:xfrm>
            <a:off x="375138" y="203443"/>
            <a:ext cx="10146105" cy="3139321"/>
          </a:xfrm>
          <a:prstGeom prst="rect">
            <a:avLst/>
          </a:prstGeom>
          <a:noFill/>
        </p:spPr>
        <p:txBody>
          <a:bodyPr wrap="square">
            <a:spAutoFit/>
          </a:bodyPr>
          <a:lstStyle/>
          <a:p>
            <a:r>
              <a:rPr lang="en-US" dirty="0"/>
              <a:t>3. Special Fuel Injection Equipment</a:t>
            </a:r>
          </a:p>
          <a:p>
            <a:endParaRPr lang="en-US" dirty="0"/>
          </a:p>
          <a:p>
            <a:r>
              <a:rPr lang="en-US" dirty="0"/>
              <a:t>Modification:</a:t>
            </a:r>
          </a:p>
          <a:p>
            <a:endParaRPr lang="en-US" dirty="0"/>
          </a:p>
          <a:p>
            <a:r>
              <a:rPr lang="en-US" dirty="0"/>
              <a:t>Larger injection pumps Hardened pump plungers and barrels</a:t>
            </a:r>
          </a:p>
          <a:p>
            <a:r>
              <a:rPr lang="en-US" dirty="0"/>
              <a:t>Fuel valves with cooling or circulation</a:t>
            </a:r>
          </a:p>
          <a:p>
            <a:endParaRPr lang="en-US" dirty="0"/>
          </a:p>
          <a:p>
            <a:r>
              <a:rPr lang="en-US" dirty="0"/>
              <a:t>Reason:</a:t>
            </a:r>
          </a:p>
          <a:p>
            <a:r>
              <a:rPr lang="en-US" dirty="0"/>
              <a:t>Residual fuel is ,More abrasive ,Higher temperature Higher injection pressure required</a:t>
            </a:r>
          </a:p>
          <a:p>
            <a:r>
              <a:rPr lang="en-US" dirty="0"/>
              <a:t>Which will prevent  seizure and erosion ,Maintains correct injection pressure and spray pattern atomization </a:t>
            </a:r>
          </a:p>
          <a:p>
            <a:endParaRPr lang="en-US" dirty="0"/>
          </a:p>
        </p:txBody>
      </p:sp>
    </p:spTree>
    <p:extLst>
      <p:ext uri="{BB962C8B-B14F-4D97-AF65-F5344CB8AC3E}">
        <p14:creationId xmlns:p14="http://schemas.microsoft.com/office/powerpoint/2010/main" val="3796968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C3C2D7-0818-A98A-6DC7-AA79DD70E2C3}"/>
              </a:ext>
            </a:extLst>
          </p:cNvPr>
          <p:cNvSpPr txBox="1"/>
          <p:nvPr/>
        </p:nvSpPr>
        <p:spPr>
          <a:xfrm>
            <a:off x="299156" y="82575"/>
            <a:ext cx="8794044" cy="3416320"/>
          </a:xfrm>
          <a:prstGeom prst="rect">
            <a:avLst/>
          </a:prstGeom>
          <a:noFill/>
        </p:spPr>
        <p:txBody>
          <a:bodyPr wrap="square">
            <a:spAutoFit/>
          </a:bodyPr>
          <a:lstStyle/>
          <a:p>
            <a:r>
              <a:rPr lang="en-US" dirty="0"/>
              <a:t>4. Exhaust Valve &amp; Combustion Chamber Protection</a:t>
            </a:r>
          </a:p>
          <a:p>
            <a:endParaRPr lang="en-US" dirty="0"/>
          </a:p>
          <a:p>
            <a:r>
              <a:rPr lang="en-US" dirty="0" err="1"/>
              <a:t>Stellite</a:t>
            </a:r>
            <a:r>
              <a:rPr lang="en-US" dirty="0"/>
              <a:t>-faced exhaust valves as </a:t>
            </a:r>
          </a:p>
          <a:p>
            <a:r>
              <a:rPr lang="en-US" dirty="0"/>
              <a:t>Residual fuel produces: More ash Vanadium and sodium compounds Higher corrosion and deposit formation</a:t>
            </a:r>
          </a:p>
          <a:p>
            <a:r>
              <a:rPr lang="en-US" dirty="0"/>
              <a:t>Which results in </a:t>
            </a:r>
          </a:p>
          <a:p>
            <a:r>
              <a:rPr lang="en-US" dirty="0"/>
              <a:t>Increases valve life Prevents burning and sticking</a:t>
            </a:r>
          </a:p>
          <a:p>
            <a:endParaRPr lang="en-US" dirty="0"/>
          </a:p>
          <a:p>
            <a:r>
              <a:rPr lang="en-US" dirty="0"/>
              <a:t>5. Use of high-BN cylinder oil </a:t>
            </a:r>
            <a:r>
              <a:rPr lang="en-US" dirty="0">
                <a:latin typeface="fkGroteskNeue"/>
              </a:rPr>
              <a:t> for  cylinder lubrication: Switch to high-alkalinity lube oil to neutralize acids from sulfur combustion; distillates produce fewer acids, allowing lower TBN oils</a:t>
            </a:r>
            <a:endParaRPr lang="en-US" dirty="0"/>
          </a:p>
          <a:p>
            <a:endParaRPr lang="en-US" dirty="0"/>
          </a:p>
        </p:txBody>
      </p:sp>
    </p:spTree>
    <p:extLst>
      <p:ext uri="{BB962C8B-B14F-4D97-AF65-F5344CB8AC3E}">
        <p14:creationId xmlns:p14="http://schemas.microsoft.com/office/powerpoint/2010/main" val="2841266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5CC942-5A75-BFE6-4F9A-15F993789030}"/>
              </a:ext>
            </a:extLst>
          </p:cNvPr>
          <p:cNvPicPr>
            <a:picLocks noChangeAspect="1"/>
          </p:cNvPicPr>
          <p:nvPr/>
        </p:nvPicPr>
        <p:blipFill>
          <a:blip r:embed="rId2"/>
          <a:srcRect t="1764" r="8866" b="-823"/>
          <a:stretch>
            <a:fillRect/>
          </a:stretch>
        </p:blipFill>
        <p:spPr>
          <a:xfrm>
            <a:off x="330200" y="417689"/>
            <a:ext cx="11111089" cy="6022622"/>
          </a:xfrm>
          <a:prstGeom prst="rect">
            <a:avLst/>
          </a:prstGeom>
        </p:spPr>
      </p:pic>
      <p:sp>
        <p:nvSpPr>
          <p:cNvPr id="5" name="TextBox 4">
            <a:extLst>
              <a:ext uri="{FF2B5EF4-FFF2-40B4-BE49-F238E27FC236}">
                <a16:creationId xmlns:a16="http://schemas.microsoft.com/office/drawing/2014/main" id="{0C8CD76F-E1CE-20E9-3B9C-4A091810D076}"/>
              </a:ext>
            </a:extLst>
          </p:cNvPr>
          <p:cNvSpPr txBox="1"/>
          <p:nvPr/>
        </p:nvSpPr>
        <p:spPr>
          <a:xfrm>
            <a:off x="186267" y="233023"/>
            <a:ext cx="6096000" cy="369332"/>
          </a:xfrm>
          <a:prstGeom prst="rect">
            <a:avLst/>
          </a:prstGeom>
          <a:noFill/>
        </p:spPr>
        <p:txBody>
          <a:bodyPr wrap="square">
            <a:spAutoFit/>
          </a:bodyPr>
          <a:lstStyle/>
          <a:p>
            <a:r>
              <a:rPr lang="en-US" dirty="0"/>
              <a:t>SIX properties required in residual fuel specification</a:t>
            </a:r>
          </a:p>
        </p:txBody>
      </p:sp>
    </p:spTree>
    <p:extLst>
      <p:ext uri="{BB962C8B-B14F-4D97-AF65-F5344CB8AC3E}">
        <p14:creationId xmlns:p14="http://schemas.microsoft.com/office/powerpoint/2010/main" val="2420464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BDE7BA-E73B-5112-6464-4FCC0410E45B}"/>
              </a:ext>
            </a:extLst>
          </p:cNvPr>
          <p:cNvPicPr>
            <a:picLocks noChangeAspect="1"/>
          </p:cNvPicPr>
          <p:nvPr/>
        </p:nvPicPr>
        <p:blipFill>
          <a:blip r:embed="rId2"/>
          <a:stretch>
            <a:fillRect/>
          </a:stretch>
        </p:blipFill>
        <p:spPr>
          <a:xfrm>
            <a:off x="0" y="328998"/>
            <a:ext cx="12024334" cy="5146114"/>
          </a:xfrm>
          <a:prstGeom prst="rect">
            <a:avLst/>
          </a:prstGeom>
        </p:spPr>
      </p:pic>
    </p:spTree>
    <p:extLst>
      <p:ext uri="{BB962C8B-B14F-4D97-AF65-F5344CB8AC3E}">
        <p14:creationId xmlns:p14="http://schemas.microsoft.com/office/powerpoint/2010/main" val="2866665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B753E9-0498-1305-16A2-F5CD3150BF4F}"/>
              </a:ext>
            </a:extLst>
          </p:cNvPr>
          <p:cNvSpPr txBox="1"/>
          <p:nvPr/>
        </p:nvSpPr>
        <p:spPr>
          <a:xfrm>
            <a:off x="180622" y="0"/>
            <a:ext cx="6096000" cy="5355312"/>
          </a:xfrm>
          <a:prstGeom prst="rect">
            <a:avLst/>
          </a:prstGeom>
          <a:noFill/>
        </p:spPr>
        <p:txBody>
          <a:bodyPr wrap="square">
            <a:spAutoFit/>
          </a:bodyPr>
          <a:lstStyle/>
          <a:p>
            <a:r>
              <a:rPr lang="en-US" dirty="0"/>
              <a:t>b) SIX properties required in residual fuel specification</a:t>
            </a:r>
          </a:p>
          <a:p>
            <a:endParaRPr lang="en-US" dirty="0"/>
          </a:p>
          <a:p>
            <a:r>
              <a:rPr lang="en-US" dirty="0"/>
              <a:t>(With effect on storage and burning)</a:t>
            </a:r>
          </a:p>
          <a:p>
            <a:endParaRPr lang="en-US" dirty="0"/>
          </a:p>
          <a:p>
            <a:r>
              <a:rPr lang="en-US" dirty="0"/>
              <a:t>1. Viscosity</a:t>
            </a:r>
          </a:p>
          <a:p>
            <a:endParaRPr lang="en-US" dirty="0"/>
          </a:p>
          <a:p>
            <a:r>
              <a:rPr lang="en-US" dirty="0"/>
              <a:t>Property: Resistance to flow</a:t>
            </a:r>
          </a:p>
          <a:p>
            <a:endParaRPr lang="en-US" dirty="0"/>
          </a:p>
          <a:p>
            <a:r>
              <a:rPr lang="en-US" dirty="0"/>
              <a:t>Effect on storage:</a:t>
            </a:r>
          </a:p>
          <a:p>
            <a:endParaRPr lang="en-US" dirty="0"/>
          </a:p>
          <a:p>
            <a:r>
              <a:rPr lang="en-US" dirty="0"/>
              <a:t>High viscosity requires heating in tanks and pipelines</a:t>
            </a:r>
          </a:p>
          <a:p>
            <a:endParaRPr lang="en-US" dirty="0"/>
          </a:p>
          <a:p>
            <a:r>
              <a:rPr lang="en-US" dirty="0"/>
              <a:t>Effect on burning:</a:t>
            </a:r>
          </a:p>
          <a:p>
            <a:endParaRPr lang="en-US" dirty="0"/>
          </a:p>
          <a:p>
            <a:r>
              <a:rPr lang="en-US" dirty="0"/>
              <a:t>Too high → poor atomization</a:t>
            </a:r>
          </a:p>
          <a:p>
            <a:endParaRPr lang="en-US" dirty="0"/>
          </a:p>
          <a:p>
            <a:r>
              <a:rPr lang="en-US" dirty="0"/>
              <a:t>Too low → leakage in pumps</a:t>
            </a:r>
          </a:p>
          <a:p>
            <a:endParaRPr lang="en-US" dirty="0"/>
          </a:p>
          <a:p>
            <a:r>
              <a:rPr lang="en-US" dirty="0"/>
              <a:t>Requirement: Must match heater capacity</a:t>
            </a:r>
          </a:p>
        </p:txBody>
      </p:sp>
    </p:spTree>
    <p:extLst>
      <p:ext uri="{BB962C8B-B14F-4D97-AF65-F5344CB8AC3E}">
        <p14:creationId xmlns:p14="http://schemas.microsoft.com/office/powerpoint/2010/main" val="3511533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2EC3F3-FB61-73EE-6B94-28E7D7C8B9DC}"/>
              </a:ext>
            </a:extLst>
          </p:cNvPr>
          <p:cNvSpPr txBox="1"/>
          <p:nvPr/>
        </p:nvSpPr>
        <p:spPr>
          <a:xfrm>
            <a:off x="270933" y="0"/>
            <a:ext cx="6096000" cy="3416320"/>
          </a:xfrm>
          <a:prstGeom prst="rect">
            <a:avLst/>
          </a:prstGeom>
          <a:noFill/>
        </p:spPr>
        <p:txBody>
          <a:bodyPr wrap="square">
            <a:spAutoFit/>
          </a:bodyPr>
          <a:lstStyle/>
          <a:p>
            <a:r>
              <a:rPr lang="en-US" dirty="0"/>
              <a:t>2. Density</a:t>
            </a:r>
          </a:p>
          <a:p>
            <a:endParaRPr lang="en-US" dirty="0"/>
          </a:p>
          <a:p>
            <a:r>
              <a:rPr lang="en-US" dirty="0"/>
              <a:t>Property: Mass per unit volume</a:t>
            </a:r>
          </a:p>
          <a:p>
            <a:endParaRPr lang="en-US" dirty="0"/>
          </a:p>
          <a:p>
            <a:r>
              <a:rPr lang="en-US" dirty="0"/>
              <a:t>Effect on storage:</a:t>
            </a:r>
          </a:p>
          <a:p>
            <a:endParaRPr lang="en-US" dirty="0"/>
          </a:p>
          <a:p>
            <a:r>
              <a:rPr lang="en-US" dirty="0"/>
              <a:t>High density reduces effectiveness of centrifugal separation</a:t>
            </a:r>
          </a:p>
          <a:p>
            <a:endParaRPr lang="en-US" dirty="0"/>
          </a:p>
          <a:p>
            <a:r>
              <a:rPr lang="en-US" dirty="0"/>
              <a:t>Effect on burning:</a:t>
            </a:r>
          </a:p>
          <a:p>
            <a:endParaRPr lang="en-US" dirty="0"/>
          </a:p>
          <a:p>
            <a:r>
              <a:rPr lang="en-US" dirty="0"/>
              <a:t>Affects injection quantity and air–fuel ratio</a:t>
            </a:r>
          </a:p>
          <a:p>
            <a:endParaRPr lang="en-US" dirty="0"/>
          </a:p>
        </p:txBody>
      </p:sp>
    </p:spTree>
    <p:extLst>
      <p:ext uri="{BB962C8B-B14F-4D97-AF65-F5344CB8AC3E}">
        <p14:creationId xmlns:p14="http://schemas.microsoft.com/office/powerpoint/2010/main" val="188003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69BCEF-13DA-D792-A66F-62F1665DFAB6}"/>
              </a:ext>
            </a:extLst>
          </p:cNvPr>
          <p:cNvSpPr txBox="1"/>
          <p:nvPr/>
        </p:nvSpPr>
        <p:spPr>
          <a:xfrm>
            <a:off x="395112" y="337754"/>
            <a:ext cx="6096000" cy="4247317"/>
          </a:xfrm>
          <a:prstGeom prst="rect">
            <a:avLst/>
          </a:prstGeom>
          <a:noFill/>
        </p:spPr>
        <p:txBody>
          <a:bodyPr wrap="square">
            <a:spAutoFit/>
          </a:bodyPr>
          <a:lstStyle/>
          <a:p>
            <a:r>
              <a:rPr lang="en-US" dirty="0"/>
              <a:t>3. Sulphur Content</a:t>
            </a:r>
          </a:p>
          <a:p>
            <a:endParaRPr lang="en-US" dirty="0"/>
          </a:p>
          <a:p>
            <a:r>
              <a:rPr lang="en-US" dirty="0"/>
              <a:t>Property: Percentage of </a:t>
            </a:r>
            <a:r>
              <a:rPr lang="en-US" dirty="0" err="1"/>
              <a:t>sulphur</a:t>
            </a:r>
            <a:r>
              <a:rPr lang="en-US" dirty="0"/>
              <a:t> in fuel</a:t>
            </a:r>
          </a:p>
          <a:p>
            <a:endParaRPr lang="en-US" dirty="0"/>
          </a:p>
          <a:p>
            <a:r>
              <a:rPr lang="en-US" dirty="0"/>
              <a:t>Effect on storage:</a:t>
            </a:r>
          </a:p>
          <a:p>
            <a:endParaRPr lang="en-US" dirty="0"/>
          </a:p>
          <a:p>
            <a:r>
              <a:rPr lang="en-US" dirty="0"/>
              <a:t>Promotes acidic sludge formation</a:t>
            </a:r>
          </a:p>
          <a:p>
            <a:endParaRPr lang="en-US" dirty="0"/>
          </a:p>
          <a:p>
            <a:r>
              <a:rPr lang="en-US" dirty="0"/>
              <a:t>Effect on burning:</a:t>
            </a:r>
          </a:p>
          <a:p>
            <a:endParaRPr lang="en-US" dirty="0"/>
          </a:p>
          <a:p>
            <a:r>
              <a:rPr lang="en-US" dirty="0"/>
              <a:t>Forms SO₂/SO₃ → </a:t>
            </a:r>
            <a:r>
              <a:rPr lang="en-US" dirty="0" err="1"/>
              <a:t>sulphuric</a:t>
            </a:r>
            <a:r>
              <a:rPr lang="en-US" dirty="0"/>
              <a:t> acid</a:t>
            </a:r>
          </a:p>
          <a:p>
            <a:endParaRPr lang="en-US" dirty="0"/>
          </a:p>
          <a:p>
            <a:r>
              <a:rPr lang="en-US" dirty="0"/>
              <a:t>Causes liner and exhaust valve corrosion</a:t>
            </a:r>
          </a:p>
          <a:p>
            <a:endParaRPr lang="en-US" dirty="0"/>
          </a:p>
          <a:p>
            <a:r>
              <a:rPr lang="en-US" dirty="0"/>
              <a:t>Must comply with MARPOL </a:t>
            </a:r>
            <a:r>
              <a:rPr lang="en-US" dirty="0" err="1"/>
              <a:t>sulphur</a:t>
            </a:r>
            <a:r>
              <a:rPr lang="en-US" dirty="0"/>
              <a:t> limits</a:t>
            </a:r>
          </a:p>
        </p:txBody>
      </p:sp>
    </p:spTree>
    <p:extLst>
      <p:ext uri="{BB962C8B-B14F-4D97-AF65-F5344CB8AC3E}">
        <p14:creationId xmlns:p14="http://schemas.microsoft.com/office/powerpoint/2010/main" val="347634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C51614-FEA2-DEFD-B742-711953F123B2}"/>
              </a:ext>
            </a:extLst>
          </p:cNvPr>
          <p:cNvSpPr txBox="1"/>
          <p:nvPr/>
        </p:nvSpPr>
        <p:spPr>
          <a:xfrm>
            <a:off x="214489" y="118041"/>
            <a:ext cx="6096000" cy="3693319"/>
          </a:xfrm>
          <a:prstGeom prst="rect">
            <a:avLst/>
          </a:prstGeom>
          <a:noFill/>
        </p:spPr>
        <p:txBody>
          <a:bodyPr wrap="square">
            <a:spAutoFit/>
          </a:bodyPr>
          <a:lstStyle/>
          <a:p>
            <a:r>
              <a:rPr lang="en-US" dirty="0"/>
              <a:t>4. Conradson Carbon Residue (CCR)</a:t>
            </a:r>
          </a:p>
          <a:p>
            <a:endParaRPr lang="en-US" dirty="0"/>
          </a:p>
          <a:p>
            <a:r>
              <a:rPr lang="en-US" dirty="0"/>
              <a:t>Property: Tendency to form carbon deposits</a:t>
            </a:r>
          </a:p>
          <a:p>
            <a:endParaRPr lang="en-US" dirty="0"/>
          </a:p>
          <a:p>
            <a:r>
              <a:rPr lang="en-US" dirty="0"/>
              <a:t>Effect on storage:</a:t>
            </a:r>
          </a:p>
          <a:p>
            <a:endParaRPr lang="en-US" dirty="0"/>
          </a:p>
          <a:p>
            <a:r>
              <a:rPr lang="en-US" dirty="0"/>
              <a:t>Higher sludge formation</a:t>
            </a:r>
          </a:p>
          <a:p>
            <a:endParaRPr lang="en-US" dirty="0"/>
          </a:p>
          <a:p>
            <a:r>
              <a:rPr lang="en-US" dirty="0"/>
              <a:t>Effect on burning:</a:t>
            </a:r>
          </a:p>
          <a:p>
            <a:endParaRPr lang="en-US" dirty="0"/>
          </a:p>
          <a:p>
            <a:r>
              <a:rPr lang="en-US" dirty="0"/>
              <a:t>Increases piston crown, ring groove, and exhaust deposits</a:t>
            </a:r>
          </a:p>
          <a:p>
            <a:endParaRPr lang="en-US" dirty="0"/>
          </a:p>
          <a:p>
            <a:r>
              <a:rPr lang="en-US" dirty="0"/>
              <a:t>Requirement: Low CCR preferred</a:t>
            </a:r>
          </a:p>
        </p:txBody>
      </p:sp>
    </p:spTree>
    <p:extLst>
      <p:ext uri="{BB962C8B-B14F-4D97-AF65-F5344CB8AC3E}">
        <p14:creationId xmlns:p14="http://schemas.microsoft.com/office/powerpoint/2010/main" val="1304310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5B5D6B-7A6A-11ED-0E5E-673B512C5A78}"/>
              </a:ext>
            </a:extLst>
          </p:cNvPr>
          <p:cNvSpPr txBox="1"/>
          <p:nvPr/>
        </p:nvSpPr>
        <p:spPr>
          <a:xfrm>
            <a:off x="231422" y="0"/>
            <a:ext cx="6096000" cy="5355312"/>
          </a:xfrm>
          <a:prstGeom prst="rect">
            <a:avLst/>
          </a:prstGeom>
          <a:noFill/>
        </p:spPr>
        <p:txBody>
          <a:bodyPr wrap="square">
            <a:spAutoFit/>
          </a:bodyPr>
          <a:lstStyle/>
          <a:p>
            <a:r>
              <a:rPr lang="en-US" dirty="0"/>
              <a:t>5. Water Content</a:t>
            </a:r>
          </a:p>
          <a:p>
            <a:endParaRPr lang="en-US" dirty="0"/>
          </a:p>
          <a:p>
            <a:r>
              <a:rPr lang="en-US" dirty="0"/>
              <a:t>Property: Amount of water present</a:t>
            </a:r>
          </a:p>
          <a:p>
            <a:endParaRPr lang="en-US" dirty="0"/>
          </a:p>
          <a:p>
            <a:r>
              <a:rPr lang="en-US" dirty="0"/>
              <a:t>Effect on storage:</a:t>
            </a:r>
          </a:p>
          <a:p>
            <a:endParaRPr lang="en-US" dirty="0"/>
          </a:p>
          <a:p>
            <a:r>
              <a:rPr lang="en-US" dirty="0"/>
              <a:t>Promotes microbial growth</a:t>
            </a:r>
          </a:p>
          <a:p>
            <a:endParaRPr lang="en-US" dirty="0"/>
          </a:p>
          <a:p>
            <a:r>
              <a:rPr lang="en-US" dirty="0"/>
              <a:t>Corrosion in tanks</a:t>
            </a:r>
          </a:p>
          <a:p>
            <a:endParaRPr lang="en-US" dirty="0"/>
          </a:p>
          <a:p>
            <a:r>
              <a:rPr lang="en-US" dirty="0"/>
              <a:t>Effect on burning:</a:t>
            </a:r>
          </a:p>
          <a:p>
            <a:endParaRPr lang="en-US" dirty="0"/>
          </a:p>
          <a:p>
            <a:r>
              <a:rPr lang="en-US" dirty="0"/>
              <a:t>Poor combustion</a:t>
            </a:r>
          </a:p>
          <a:p>
            <a:endParaRPr lang="en-US" dirty="0"/>
          </a:p>
          <a:p>
            <a:r>
              <a:rPr lang="en-US" dirty="0"/>
              <a:t>Injector damage</a:t>
            </a:r>
          </a:p>
          <a:p>
            <a:endParaRPr lang="en-US" dirty="0"/>
          </a:p>
          <a:p>
            <a:r>
              <a:rPr lang="en-US" dirty="0"/>
              <a:t>Power loss</a:t>
            </a:r>
          </a:p>
          <a:p>
            <a:endParaRPr lang="en-US" dirty="0"/>
          </a:p>
          <a:p>
            <a:r>
              <a:rPr lang="en-US" dirty="0"/>
              <a:t>Requirement: As low as possible</a:t>
            </a:r>
          </a:p>
        </p:txBody>
      </p:sp>
    </p:spTree>
    <p:extLst>
      <p:ext uri="{BB962C8B-B14F-4D97-AF65-F5344CB8AC3E}">
        <p14:creationId xmlns:p14="http://schemas.microsoft.com/office/powerpoint/2010/main" val="3146929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129BC5-C5D6-1F7E-F153-635396778607}"/>
              </a:ext>
            </a:extLst>
          </p:cNvPr>
          <p:cNvSpPr txBox="1"/>
          <p:nvPr/>
        </p:nvSpPr>
        <p:spPr>
          <a:xfrm>
            <a:off x="129822" y="207090"/>
            <a:ext cx="6096000" cy="5078313"/>
          </a:xfrm>
          <a:prstGeom prst="rect">
            <a:avLst/>
          </a:prstGeom>
          <a:noFill/>
        </p:spPr>
        <p:txBody>
          <a:bodyPr wrap="square">
            <a:spAutoFit/>
          </a:bodyPr>
          <a:lstStyle/>
          <a:p>
            <a:r>
              <a:rPr lang="en-US" dirty="0"/>
              <a:t>6. Ash / Catalytic Fines (</a:t>
            </a:r>
            <a:r>
              <a:rPr lang="en-US" dirty="0" err="1"/>
              <a:t>Aluminium</a:t>
            </a:r>
            <a:r>
              <a:rPr lang="en-US" dirty="0"/>
              <a:t> &amp; Silicon)</a:t>
            </a:r>
          </a:p>
          <a:p>
            <a:endParaRPr lang="en-US" dirty="0"/>
          </a:p>
          <a:p>
            <a:r>
              <a:rPr lang="en-US" dirty="0"/>
              <a:t>Property: Hard abrasive particles</a:t>
            </a:r>
          </a:p>
          <a:p>
            <a:endParaRPr lang="en-US" dirty="0"/>
          </a:p>
          <a:p>
            <a:r>
              <a:rPr lang="en-US" dirty="0"/>
              <a:t>Effect on storage:</a:t>
            </a:r>
          </a:p>
          <a:p>
            <a:endParaRPr lang="en-US" dirty="0"/>
          </a:p>
          <a:p>
            <a:r>
              <a:rPr lang="en-US" dirty="0"/>
              <a:t>Settle as sludge</a:t>
            </a:r>
          </a:p>
          <a:p>
            <a:endParaRPr lang="en-US" dirty="0"/>
          </a:p>
          <a:p>
            <a:r>
              <a:rPr lang="en-US" dirty="0"/>
              <a:t>Effect on burning:</a:t>
            </a:r>
          </a:p>
          <a:p>
            <a:endParaRPr lang="en-US" dirty="0"/>
          </a:p>
          <a:p>
            <a:r>
              <a:rPr lang="en-US" dirty="0"/>
              <a:t>Severe abrasive wear of:</a:t>
            </a:r>
          </a:p>
          <a:p>
            <a:endParaRPr lang="en-US" dirty="0"/>
          </a:p>
          <a:p>
            <a:r>
              <a:rPr lang="en-US" dirty="0"/>
              <a:t>Fuel pumps</a:t>
            </a:r>
          </a:p>
          <a:p>
            <a:endParaRPr lang="en-US" dirty="0"/>
          </a:p>
          <a:p>
            <a:r>
              <a:rPr lang="en-US" dirty="0"/>
              <a:t>Injectors</a:t>
            </a:r>
          </a:p>
          <a:p>
            <a:endParaRPr lang="en-US" dirty="0"/>
          </a:p>
          <a:p>
            <a:r>
              <a:rPr lang="en-US" dirty="0"/>
              <a:t>Cylinder liners and rings</a:t>
            </a:r>
          </a:p>
          <a:p>
            <a:endParaRPr lang="en-US" dirty="0"/>
          </a:p>
        </p:txBody>
      </p:sp>
    </p:spTree>
    <p:extLst>
      <p:ext uri="{BB962C8B-B14F-4D97-AF65-F5344CB8AC3E}">
        <p14:creationId xmlns:p14="http://schemas.microsoft.com/office/powerpoint/2010/main" val="830674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574</Words>
  <Application>Microsoft Office PowerPoint</Application>
  <PresentationFormat>Widescreen</PresentationFormat>
  <Paragraphs>142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fkGroteskNeue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Engineering Unlimited</dc:creator>
  <cp:lastModifiedBy>Engineering Unlimited</cp:lastModifiedBy>
  <cp:revision>1</cp:revision>
  <dcterms:created xsi:type="dcterms:W3CDTF">2026-01-25T10:39:58Z</dcterms:created>
  <dcterms:modified xsi:type="dcterms:W3CDTF">2026-01-25T10:40:25Z</dcterms:modified>
</cp:coreProperties>
</file>