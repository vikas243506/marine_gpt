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654" r:id="rId3"/>
    <p:sldId id="655" r:id="rId4"/>
    <p:sldId id="6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33B02-6966-41EC-B222-1999255CC6A6}" v="8" dt="2026-01-23T08:19:54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8" autoAdjust="0"/>
    <p:restoredTop sz="94660"/>
  </p:normalViewPr>
  <p:slideViewPr>
    <p:cSldViewPr snapToGrid="0">
      <p:cViewPr>
        <p:scale>
          <a:sx n="97" d="100"/>
          <a:sy n="97" d="100"/>
        </p:scale>
        <p:origin x="237" y="4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0.290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0"/>
      <inkml:brushProperty name="anchorY" value="0"/>
      <inkml:brushProperty name="scaleFactor" value="0.5"/>
    </inkml:brush>
  </inkml:definitions>
  <inkml:trace contextRef="#ctx0" brushRef="#br0">0 1368 8192,'0'0'0,"39"32"9557,-7-6-7646,3 0-1911,6 0 0,-1 4 0,-1-3 0,1-1 0,-1-1 0,1-1 0,5-3 0,1-2 0,2-4 0,3-2 0,4 3 0,6 0 0,3 1 0,0-4 0,5 3 0,-4 1 0,-7-4 0,-1 1 0,0-1 0,0 4 0,17 0 0,2 1-3915,7 0-1962,-4 2 7317,-4 1-4909,-4-2 4175,-7 0-1059,-5-4 353,-5 1 0,-4-3 0,7-3 0,-1-3 0,9-3 0,-1-2 0,-3-1 0,-3-2 0,-1 1 0,1-1 0,-6 1 0,2-1 0,-6 1 0,2 0 0,2 0 0,-3 0 0,-1 0 0,-1-3 0,3-1 0,-4-2 0,-3 0 0,3-5 3915,7 1-5034,3 1 8674,4 2-9554,2-4-468,1-1 3458,-5-2-8310,-7-1 8648,0 2-2127,4-3 710,2 0 88,3-1 0,2 0 0,1 3 0,-6-2 0,0 0 0,0-1 0,4-2 0,2 2 0,0-2 0,1-6 0,-6-3 0,0-5 0,-1 1 0,1-4 0,1 1 0,-5-3 0,1-3 0,-3 5 0,2-6 0,2 2 0,-1 2 0,-1 1 0,7-4 0,-8-2 0,-7 5 0,-4 4 0,-1 3 0,-5 5 0,-4 0 0,2-6 0,0-2 0,5-4 0,3 0 0,-3 4 0,-2 5 0,-2 4 0,1-2 0,-4 2 0,0 2 3915,-2-1 1962,-3 3-7317,6-3 4909,1-1-4175,4 1 1059,-4 1-353,-3 3 0,-2-5 0,-1 1 0,4 1 0,-3 2 0,1 2 0,-3 1 0,-3 2 0,-4 3 0,-1 1 0,1 0 0,2 2 0,0 0 0,2-2 0,-1 0 0,-2-1 0,5-2 0,-1 4 0,2-2 0,-2 1 0,-2-1 0,-3 2 0,-1-1 0,-2 3 0,-4-1 0,-1 3 0,0 1 0,1 0 0,0 0 0,4-1 0,2-2 0,-1-2 0,0 1 0,0 2 0,-1 2-3466,-1 3 7923,1-2-5943,-8 1 1981,-6-3-495,-16-5 0,-8-2 0,-5-2 0,-3 2-3466,-3 3 4456,-3 0-8308,0 0 6177,2 3 1049,5-2-349,15 2 4356,33 15-5034,8 4-1787,4 0 3896,0 1 2430,-1-2 1858,-2-2-3928,-4-3-1184,-6 1 208,-18-3-374,0-2 0,0 0 0,1 0 0,-1 0 0,0 0 0,0 0 0,0 1 0,0-1 0,0 0 0,0 3 0,7 16 0,-7 5 0,-4 3 0,-3 5 0,-1-1-3466,-3 0-2367,-1-4 7287,-2-3-5519,2-3 4948,-1-3-1324,3-1 441,-1-5 0,-1-1 0,2-1 0,2 2 3915,-7 4-6950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3.427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-6959.95215"/>
      <inkml:brushProperty name="anchorY" value="207.06194"/>
      <inkml:brushProperty name="scaleFactor" value="0.5"/>
    </inkml:brush>
  </inkml:definitions>
  <inkml:trace contextRef="#ctx0" brushRef="#br0">1 761 8192,'0'-2'11468,"0"-5"-13379,0-6 3822,0-5-1911,0-3 0,0-3 0,3-6 0,0 1 0,0-2 0,0 4 0,5-11 0,-1 4 0,1 2 0,-3-2 0,-1 0 0,-2 4 0,-1 1 0,0 0 0,-1 0 0,-1-4 0,1 3-3466,0-1-2367,0 4 7287,-1 0-5519,-2 2 4948,0 0-1324,0 2 441,0 2 0,-2 5 0,1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4.474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-7710.7666"/>
      <inkml:brushProperty name="anchorY" value="241.83742"/>
      <inkml:brushProperty name="scaleFactor" value="0.5"/>
    </inkml:brush>
  </inkml:definitions>
  <inkml:trace contextRef="#ctx0" brushRef="#br0">32 844 8192,'0'-3'11468,"0"-7"-13379,0-3 3822,0-8-1911,0-6 0,-3 0 0,0-8 0,-1-7 0,2-5 0,0-5 0,1-4 0,0 2 0,1-1 0,0 2 0,0 7 0,0 9 0,-3 7 0,0 0 0,0 5-3915,0 2-1962,1 3 7317,1 2 1026,0-2-3456,1-2 8309,0 1-8648,0 0 2127,0 1-710,0 4-88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5.104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-6953.67871"/>
      <inkml:brushProperty name="anchorY" value="1810.93701"/>
      <inkml:brushProperty name="scaleFactor" value="0.5"/>
    </inkml:brush>
  </inkml:definitions>
  <inkml:trace contextRef="#ctx0" brushRef="#br0">0 0 8192,'3'0'11468,"16"0"-13379,22 0 3822,22 0-1911,28 0-3915,21 0 5034,19 0-8076,-2 0 12700,-10 0-7775,-22 0 8988,-26 0-8784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6.903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-8555.80371"/>
      <inkml:brushProperty name="anchorY" value="1085.22266"/>
      <inkml:brushProperty name="scaleFactor" value="0.5"/>
    </inkml:brush>
  </inkml:definitions>
  <inkml:trace contextRef="#ctx0" brushRef="#br0">187 480 8192,'0'-3'11468,"0"-4"-13379,0-5 3822,0-4-1911,0-4 0,0-1 0,0-1 0,0-1 0,0 1 0,0 1 0,0-4 0,0-6 0,0 1 0,0-1 0,0 0 0,0 2 0,0 4 0,-4 7 0,-2 8 0,6 10 0,-1-1 0,1 1 0,0 0 0,-1 0 0,1 0 0,-1-1 0,1 1 0,-1 0 0,1 0 0,0 0 0,-1 0 0,1 0 0,-1 0 0,1 0 0,-1 0 0,1 0 0,-1 0 0,1 0 0,-1 0 0,-11 3 0,-9 8 0,0 3-3466,-2 3 4456,5 1-8308,1 0 6177,4 0 1049,2-1-349,-1 0 441,3-1 0,3 0 0,2-9 0,14-17 0,11-16 0,11-8 0,-2-1 0,11-8 0,-3 5 0,-3 6 0,-5 10 0,-5 10 0,-24 12 0,1 0 0,-1 0 0,1 0 0,-1 0 0,1 0 0,-1 0 0,0 0 0,1 0 0,-1 0 0,1 0 0,-1 1 0,3 0 0,-1 0 0,-1 0 0,0 0 0,1 0 0,-1 0 0,0 1 0,0-1 0,3 3 0,20 15 3466,-3 1-7923,2 5 5943,-2-1 1934,-2-1-8454,-4-5 6712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8.297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-9528.68457"/>
      <inkml:brushProperty name="anchorY" value="695.35077"/>
      <inkml:brushProperty name="scaleFactor" value="0.5"/>
    </inkml:brush>
  </inkml:definitions>
  <inkml:trace contextRef="#ctx0" brushRef="#br0">322 455 8192,'0'-2'11468,"-3"-9"-13379,-7-8 3822,-3-6-1911,-6-7 0,-4-4 0,3 3 0,0 0 0,2-2 0,0 3 0,2 1 0,3 1 0,1 3 0,3 0 0,3 2 0,-1 3 0,2 3 0,1 10 0,2 9 0,1 0 0,1-1 0,-1 1 0,1 0 0,-1 0 0,1 0 0,-1 0 0,1 0 0,-1 0 0,1 0 0,-1 0 0,1 0 0,-1 0 0,1 0 0,-1 0 0,1 0 0,-1 0 0,0 1 0,-14 5 0,2 12 0,-2 4 0,4 10-3915,-1 1 5034,3-2 1787,3-1-7811,-1-3 9985,1-9-5732,8-20 657,-2 2-1,0 0 0,0 0 1,0 0-1,0 0 0,0 0 1,0 0-1,0 0 0,0 0 1,0 0-1,0 0 0,0 0 1,0 0-1,0-1 0,0 1 1,1 0-1,-1 0 0,0 0 1,0 0-1,0 0 0,0 0 1,0 0-1,0 0 0,0 0 1,0 0-1,0 0 0,0 0 1,1 0-1,-1 0 0,0 0 1,0 0-1,0 0 0,0 0 1,0 0-1,0 0 0,0 0 1,0 0-1,0 0 0,0 1 1,1-1-1,-1 0 1,0 0-1,0 0 0,0 0 1,0 0-1,0 0 0,0 0 1,0 0-1,0 0 0,0 0 1,0 0-1,0 0 0,0 0 1,0 1-1,14-21 124,3-10-128,6-7 0,14-1-3915,-1 5 5034,-2 5 2237,-1 9-7941,-4 6 9601,-7 9-6502,-20 5 1258,-1-1 0,0 1 0,0-1 0,0 1 0,1-1 0,-1 1 0,0 0 0,0-1 0,0 1 0,0 0 0,0 0 0,0-1 0,0 1 0,1 2 0,20 22-5649,-5 4 7317,4 7 1026,-5-1-3456,-4-4-2430,-4-7 4539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8:59:39.717"/>
    </inkml:context>
    <inkml:brush xml:id="br0">
      <inkml:brushProperty name="width" value="0.1" units="cm"/>
      <inkml:brushProperty name="height" value="0.1" units="cm"/>
      <inkml:brushProperty name="color" value="#0B868D"/>
      <inkml:brushProperty name="inkEffects" value="ocean"/>
      <inkml:brushProperty name="anchorX" value="-10296.75781"/>
      <inkml:brushProperty name="anchorY" value="232.33725"/>
      <inkml:brushProperty name="scaleFactor" value="0.5"/>
    </inkml:brush>
  </inkml:definitions>
  <inkml:trace contextRef="#ctx0" brushRef="#br0">1 321 8192,'2'0'11468,"5"0"-13379,3 0 3822,5-6-1911,15-7 0,17-12 0,17-3 0,3-3 0,3 1 0,6 3 0,-7 7 0,-11 2 0,-13 6 0,-20 2 0,-26 9 0,2 1 0,-1-1 0,0 1 0,0 0 0,1 0 0,-1-1 0,0 1 0,0 0 0,0-1 0,1 1 0,-1 0 0,0-1 0,0 1 0,0 0 0,0-1 0,0 1 0,0 0 0,1-1 0,-1 1 0,0 0 0,0-1 0,0 1 0,0 0 0,0-1 0,0 1 0,-1 0 0,1-1 0,0 1 0,0 0 0,0-1 0,0 1 0,0 0 0,0-1 0,-1 1 0,1 0 0,0-1 0,0 1 0,0 0 0,-1-1 0,-3-3 0,1 1 0,-1 0 0,0 1 0,1-1 0,-8-2 0,-32-14 0,-10-1 0,-7 2 0,19 10 0,14 7 0,27 0 0,0 1 0,-1 0 0,1 0 0,0 0 0,-1 0 0,1 0 0,0 1 0,-1-1 0,1 0 0,0 0 0,0 0 0,-1 0 0,1 0 0,0 0 0,0 0 0,-1 1 0,1-1 0,0 0 0,0 0 0,-1 0 0,1 1 0,0-1 0,0 0 0,-1 0 0,1 1 0,0-1 0,0 0 0,0 0 0,0 1 0,0-1 0,-1 0 0,1 0 0,0 1 0,0-1 0,0 1 0,1 0 0,0 1 0,0-1 0,0 0 0,0 0 0,0 1 0,0-1 0,0 0 0,0 0 0,0 0 0,0 0 0,2 0 0,23 20 0,7 2 0,2 0 0,-4-1 0,-28-18 0,1 0 0,0 0 0,-1 0 0,5 6 0,-7-7 0,1 0 0,0 0 0,-1 1 0,0-1 0,0 0 0,2 6 0,1 22 0,-4-6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2E6F-17DC-D682-85BB-9BB551E5E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346E8-A181-192A-C81E-88E846BC7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A682D-823D-6B85-6212-DEDC8546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0678D-8A53-932C-A7E6-5BFA7C7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34B38-C21A-EF15-9C94-77509602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7293-8A5A-23E5-A827-0387F68E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80B92-BC62-599F-EFF2-2BBA79262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2551F-D66B-8703-09D8-FE9097FD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F20CB-7F86-1E45-525C-6E22DB8C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DBE0-4746-6F1A-E970-00BDA9AB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A269-39FC-7BB4-6F40-86204214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9ACC8-025D-A7D9-76CA-391FAB2EF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C156-986D-1CD4-C483-7A42A307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687A2-BD5C-EB37-8520-5585A838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BB670-663F-6A39-C158-217D6292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7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3B87-8D31-F673-6B56-F27C3EC6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6BFE0-0A87-0328-F90F-E24704B12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7712E-62F2-BA87-C75D-0C1C637F2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F8D45-6A99-3CCB-BBF6-6A8193AA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3A2DD-3D94-720F-1693-CB51CE2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7F2BC-7B54-6ED1-5C29-DA954F83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F0DB-C5BE-7F4B-C1ED-285FBBAE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9F89D-FEB5-89EE-43C3-4872C4DA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C73D5-618C-339B-5AA9-AAFD4050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402AC-CE1C-E114-33EC-7C55D9242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7452C-B5B2-FC27-07C8-9E6228EE6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AC34FB-1246-E38D-8B61-7901CCE6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AEDCD-79CF-8BF2-8674-6A0EC7C9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604B5E-A345-0E67-B81E-E49E5A03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0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0D65-A094-1D8E-F081-5C96128B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66458-B437-A99B-6868-A7E43970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B87CA-E109-E40A-205B-296EBCE8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B6D2C-BF4B-275D-6B51-9A53AF1D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7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06DAF-A1F3-8823-66BE-20B3C2D4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FA96D-A34F-7540-99E9-17F61461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FA8ED-926A-2A86-F3E8-F3E126ED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8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595E-326C-4238-7C98-694F3949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8E4A4-F139-A68C-D03E-8C2A16B86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A6699-8AF7-E4EF-F0D1-91F8BD640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C9E2-954F-E47D-F535-253C0297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5B7AF-AA1A-91EE-D143-832CE4B6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AD6-A205-E973-E740-CC049DF0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2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0D5C-3CCE-B38A-417F-9DF4942C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C367D2-062C-3F7F-346E-2C6C405A0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19273-48C8-EACE-07F3-F91C2DC05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D4931-F4BC-B334-61BB-B44D5259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E944F-E1E4-D2AC-AD3E-44BED4BB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C31AE-99A2-B21C-A9B6-B1EF39CC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2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9E0E-299C-BB44-A885-E029C02E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06E0D-E3DB-C090-2003-75EC7F041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9FE4E-4AED-EE58-0750-96FA1D9D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71A38-573E-3FC3-FF54-FCB3C851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7A8DF-9CCB-B4F7-6B05-8D5EC120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0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EBFDF-A77A-CBA2-59CF-C428E4CF0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9245F-1658-FD39-955F-61B2F25A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A2A1-3FE5-B128-27AE-90E42084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6385C-DCC8-0A11-4D9F-1B2E84C5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E243F-1B56-A3D2-D761-C63FED7E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9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09419-A226-22BC-DB4E-8399BF40B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66828-8CFA-B3D0-8831-CC4D203FC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BC38B-CC77-B8BD-4F31-13586962C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E5084-9AFF-42F9-9CE3-2632945D506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A120E-42AC-7585-802A-EE5B45207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F29B5-6D78-5A43-BE16-DF6CFE6F9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53A75-47BC-4254-A478-D81D3F39D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0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8342F4-9DE7-1674-1443-90CBADC21AB2}"/>
              </a:ext>
            </a:extLst>
          </p:cNvPr>
          <p:cNvSpPr txBox="1"/>
          <p:nvPr/>
        </p:nvSpPr>
        <p:spPr>
          <a:xfrm>
            <a:off x="162320" y="362514"/>
            <a:ext cx="12303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With respect to a 2-stroke main propulsion diesel engine draw and explain the following: </a:t>
            </a:r>
          </a:p>
          <a:p>
            <a:r>
              <a:rPr lang="en-US" dirty="0"/>
              <a:t>(16) </a:t>
            </a:r>
          </a:p>
          <a:p>
            <a:r>
              <a:rPr lang="en-US" dirty="0"/>
              <a:t>(a) How the various sections of exhaust manifold connected together for the main engine? </a:t>
            </a:r>
          </a:p>
          <a:p>
            <a:r>
              <a:rPr lang="en-US" dirty="0"/>
              <a:t>(b) What is the arrangement for thermal expansion of different sections of the manifold? </a:t>
            </a:r>
          </a:p>
          <a:p>
            <a:r>
              <a:rPr lang="en-US" dirty="0"/>
              <a:t>(c) What is the arrangement in the exhaust manifold to prevent broken pieces of piston </a:t>
            </a:r>
          </a:p>
          <a:p>
            <a:r>
              <a:rPr lang="en-US" dirty="0"/>
              <a:t>rings entering turbine of the T/C</a:t>
            </a:r>
          </a:p>
        </p:txBody>
      </p:sp>
    </p:spTree>
    <p:extLst>
      <p:ext uri="{BB962C8B-B14F-4D97-AF65-F5344CB8AC3E}">
        <p14:creationId xmlns:p14="http://schemas.microsoft.com/office/powerpoint/2010/main" val="185953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BE2E57-31F7-57DE-F63E-BC8D681C6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48" t="11401" r="17826" b="33333"/>
          <a:stretch/>
        </p:blipFill>
        <p:spPr>
          <a:xfrm>
            <a:off x="7052625" y="3855072"/>
            <a:ext cx="4055797" cy="2944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F9CE4-A326-F441-2819-8E6C02D2F5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7463" r="24479" b="1699"/>
          <a:stretch>
            <a:fillRect/>
          </a:stretch>
        </p:blipFill>
        <p:spPr>
          <a:xfrm>
            <a:off x="6096000" y="588024"/>
            <a:ext cx="4055797" cy="3357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4D5EC9-EDA2-42E7-9F84-13E7CF33B60C}"/>
              </a:ext>
            </a:extLst>
          </p:cNvPr>
          <p:cNvSpPr txBox="1"/>
          <p:nvPr/>
        </p:nvSpPr>
        <p:spPr>
          <a:xfrm>
            <a:off x="137637" y="58872"/>
            <a:ext cx="11479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(a) How the various sections of exhaust manifold connected together for the main engine?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DB68C0-5F37-167F-80CB-91A38A287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84" t="12756" r="59673" b="59039"/>
          <a:stretch>
            <a:fillRect/>
          </a:stretch>
        </p:blipFill>
        <p:spPr>
          <a:xfrm>
            <a:off x="502807" y="698074"/>
            <a:ext cx="3693880" cy="2543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0EDFEA-9627-B673-4DBD-7603EB0493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83" t="77374" r="60203" b="10531"/>
          <a:stretch>
            <a:fillRect/>
          </a:stretch>
        </p:blipFill>
        <p:spPr>
          <a:xfrm>
            <a:off x="502807" y="3186754"/>
            <a:ext cx="3618817" cy="10935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96BBC1-D5CA-0AB0-C4B7-67BD5556612E}"/>
              </a:ext>
            </a:extLst>
          </p:cNvPr>
          <p:cNvSpPr txBox="1"/>
          <p:nvPr/>
        </p:nvSpPr>
        <p:spPr>
          <a:xfrm>
            <a:off x="781506" y="4358161"/>
            <a:ext cx="3222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various sections of exhaust manifold are connected by expansion joint /compensators </a:t>
            </a:r>
          </a:p>
        </p:txBody>
      </p:sp>
    </p:spTree>
    <p:extLst>
      <p:ext uri="{BB962C8B-B14F-4D97-AF65-F5344CB8AC3E}">
        <p14:creationId xmlns:p14="http://schemas.microsoft.com/office/powerpoint/2010/main" val="3412706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12CAFD-7E3C-CC6B-FD8B-CD4A4CE7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43" t="11477" r="1916" b="65373"/>
          <a:stretch>
            <a:fillRect/>
          </a:stretch>
        </p:blipFill>
        <p:spPr>
          <a:xfrm>
            <a:off x="430998" y="3863205"/>
            <a:ext cx="9052643" cy="1923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4E6BF1-473A-3564-BE85-7BB5E1900D5E}"/>
              </a:ext>
            </a:extLst>
          </p:cNvPr>
          <p:cNvSpPr txBox="1"/>
          <p:nvPr/>
        </p:nvSpPr>
        <p:spPr>
          <a:xfrm>
            <a:off x="385509" y="115097"/>
            <a:ext cx="985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What is the arrangement for thermal expansion of different sections of the manifold?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3A7A8-55F6-16E6-40BB-1A59269A3835}"/>
              </a:ext>
            </a:extLst>
          </p:cNvPr>
          <p:cNvSpPr txBox="1"/>
          <p:nvPr/>
        </p:nvSpPr>
        <p:spPr>
          <a:xfrm>
            <a:off x="323284" y="683095"/>
            <a:ext cx="814902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E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xhaust manifold 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is divided into two or more receiver portions . </a:t>
            </a:r>
          </a:p>
          <a:p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Bellows /compensators  are arranged to absorb the exhaust gas manifold dimensional changes that is caused by thermal expansion.  </a:t>
            </a:r>
          </a:p>
          <a:p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Whole exhaust gas manifold 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&amp; it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parts cover by the insulating material thereby the temperature that makes the exhaust gas manifold r outer surface is far below the exhaust gas temperature in the exhaust gas 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manifold </a:t>
            </a:r>
          </a:p>
          <a:p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Manifold is also arranged with combination of fixed ,  sliding foot support to allow thermal expansion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C1D835-34DA-D738-55F4-8DC73F422E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48" t="11401" r="17826" b="33333"/>
          <a:stretch/>
        </p:blipFill>
        <p:spPr>
          <a:xfrm>
            <a:off x="8136203" y="701789"/>
            <a:ext cx="4055797" cy="29440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9B09D1-0863-74B9-62A1-A44A199E077D}"/>
                  </a:ext>
                </a:extLst>
              </p14:cNvPr>
              <p14:cNvContentPartPr/>
              <p14:nvPr/>
            </p14:nvContentPartPr>
            <p14:xfrm>
              <a:off x="6682733" y="3035178"/>
              <a:ext cx="2302920" cy="731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9B09D1-0863-74B9-62A1-A44A199E07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4733" y="3017178"/>
                <a:ext cx="2338560" cy="76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774EFE3-E53A-D3F4-B610-1D5AB6BE4357}"/>
              </a:ext>
            </a:extLst>
          </p:cNvPr>
          <p:cNvGrpSpPr/>
          <p:nvPr/>
        </p:nvGrpSpPr>
        <p:grpSpPr>
          <a:xfrm>
            <a:off x="9555893" y="2162898"/>
            <a:ext cx="400680" cy="309240"/>
            <a:chOff x="9555893" y="2162898"/>
            <a:chExt cx="400680" cy="3092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76626C0-6C5D-765B-1295-CF1A3E3059FE}"/>
                    </a:ext>
                  </a:extLst>
                </p14:cNvPr>
                <p14:cNvContentPartPr/>
                <p14:nvPr/>
              </p14:nvContentPartPr>
              <p14:xfrm>
                <a:off x="9555893" y="2198178"/>
                <a:ext cx="17640" cy="273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76626C0-6C5D-765B-1295-CF1A3E3059F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38253" y="2180538"/>
                  <a:ext cx="532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92C752-0572-7AD8-2662-FB26C4BC0B8F}"/>
                    </a:ext>
                  </a:extLst>
                </p14:cNvPr>
                <p14:cNvContentPartPr/>
                <p14:nvPr/>
              </p14:nvContentPartPr>
              <p14:xfrm>
                <a:off x="9798533" y="2162898"/>
                <a:ext cx="11880" cy="303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92C752-0572-7AD8-2662-FB26C4BC0B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80533" y="2144898"/>
                  <a:ext cx="475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745209-F4FA-FB47-8191-D34243FBE406}"/>
                    </a:ext>
                  </a:extLst>
                </p14:cNvPr>
                <p14:cNvContentPartPr/>
                <p14:nvPr/>
              </p14:nvContentPartPr>
              <p14:xfrm>
                <a:off x="9640853" y="2308338"/>
                <a:ext cx="31572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745209-F4FA-FB47-8191-D34243FBE4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22853" y="2290338"/>
                  <a:ext cx="3513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F0BCDE2-3530-1E3A-1DC8-F4EF692AFBDE}"/>
                  </a:ext>
                </a:extLst>
              </p14:cNvPr>
              <p14:cNvContentPartPr/>
              <p14:nvPr/>
            </p14:nvContentPartPr>
            <p14:xfrm>
              <a:off x="10233773" y="2886498"/>
              <a:ext cx="156240" cy="172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F0BCDE2-3530-1E3A-1DC8-F4EF692AFB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16133" y="2868858"/>
                <a:ext cx="1918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50001B7-1D4F-E4AA-593F-886610B4ED94}"/>
                  </a:ext>
                </a:extLst>
              </p14:cNvPr>
              <p14:cNvContentPartPr/>
              <p14:nvPr/>
            </p14:nvContentPartPr>
            <p14:xfrm>
              <a:off x="11235293" y="2861658"/>
              <a:ext cx="131400" cy="164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50001B7-1D4F-E4AA-593F-886610B4ED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217293" y="2844018"/>
                <a:ext cx="1670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CB4F8AE-8C5D-06A0-03DC-6A885EFC6193}"/>
                  </a:ext>
                </a:extLst>
              </p14:cNvPr>
              <p14:cNvContentPartPr/>
              <p14:nvPr/>
            </p14:nvContentPartPr>
            <p14:xfrm>
              <a:off x="8771093" y="2830698"/>
              <a:ext cx="212040" cy="1159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CB4F8AE-8C5D-06A0-03DC-6A885EFC619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53453" y="2812698"/>
                <a:ext cx="247680" cy="15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35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40921E-970A-0CC9-3925-A0944C16C3D1}"/>
              </a:ext>
            </a:extLst>
          </p:cNvPr>
          <p:cNvSpPr txBox="1"/>
          <p:nvPr/>
        </p:nvSpPr>
        <p:spPr>
          <a:xfrm>
            <a:off x="75748" y="697973"/>
            <a:ext cx="11649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What is the arrangement in the exhaust manifold to prevent broken pieces of piston </a:t>
            </a:r>
          </a:p>
          <a:p>
            <a:r>
              <a:rPr lang="en-US" dirty="0"/>
              <a:t>rings entering turbine of the T/C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A6B72-A9D5-6333-4FB8-027744AB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83" t="34837" r="11090" b="62252"/>
          <a:stretch>
            <a:fillRect/>
          </a:stretch>
        </p:blipFill>
        <p:spPr>
          <a:xfrm>
            <a:off x="477908" y="2552721"/>
            <a:ext cx="9087556" cy="2766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5AC59F-8FC5-48F1-0C45-70505883D69F}"/>
              </a:ext>
            </a:extLst>
          </p:cNvPr>
          <p:cNvSpPr txBox="1"/>
          <p:nvPr/>
        </p:nvSpPr>
        <p:spPr>
          <a:xfrm>
            <a:off x="541866" y="1849735"/>
            <a:ext cx="908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arrangement in the exhaust manifold to prevent broken pieces of piston </a:t>
            </a:r>
          </a:p>
          <a:p>
            <a:r>
              <a:rPr lang="en-US" dirty="0"/>
              <a:t>rings entering turbine of the T/C, the protective </a:t>
            </a:r>
          </a:p>
        </p:txBody>
      </p:sp>
    </p:spTree>
    <p:extLst>
      <p:ext uri="{BB962C8B-B14F-4D97-AF65-F5344CB8AC3E}">
        <p14:creationId xmlns:p14="http://schemas.microsoft.com/office/powerpoint/2010/main" val="4042746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252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Engineering Unlimited</dc:creator>
  <cp:lastModifiedBy>Engineering Unlimited</cp:lastModifiedBy>
  <cp:revision>3</cp:revision>
  <dcterms:created xsi:type="dcterms:W3CDTF">2026-01-23T05:10:45Z</dcterms:created>
  <dcterms:modified xsi:type="dcterms:W3CDTF">2026-01-23T14:34:17Z</dcterms:modified>
</cp:coreProperties>
</file>