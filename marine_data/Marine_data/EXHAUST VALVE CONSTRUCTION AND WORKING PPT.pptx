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50" d="100"/>
          <a:sy n="50" d="100"/>
        </p:scale>
        <p:origin x="922"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B80BB-10E7-D641-05EE-0F17502FC9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AA3486F-0A74-5997-11FA-97A11364D4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07F69B0-F7FD-495C-BD95-FC70D2CEA63A}"/>
              </a:ext>
            </a:extLst>
          </p:cNvPr>
          <p:cNvSpPr>
            <a:spLocks noGrp="1"/>
          </p:cNvSpPr>
          <p:nvPr>
            <p:ph type="dt" sz="half" idx="10"/>
          </p:nvPr>
        </p:nvSpPr>
        <p:spPr/>
        <p:txBody>
          <a:bodyPr/>
          <a:lstStyle/>
          <a:p>
            <a:fld id="{4A40ED9B-D250-42C5-8ECD-9FD82F9F80C7}" type="datetimeFigureOut">
              <a:rPr lang="en-IN" smtClean="0"/>
              <a:t>18-06-2024</a:t>
            </a:fld>
            <a:endParaRPr lang="en-IN"/>
          </a:p>
        </p:txBody>
      </p:sp>
      <p:sp>
        <p:nvSpPr>
          <p:cNvPr id="5" name="Footer Placeholder 4">
            <a:extLst>
              <a:ext uri="{FF2B5EF4-FFF2-40B4-BE49-F238E27FC236}">
                <a16:creationId xmlns:a16="http://schemas.microsoft.com/office/drawing/2014/main" id="{A6E31B40-D356-413C-502C-625C16AD7A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9E530C-B7A8-E4B3-EF7C-8F0A7F9B289A}"/>
              </a:ext>
            </a:extLst>
          </p:cNvPr>
          <p:cNvSpPr>
            <a:spLocks noGrp="1"/>
          </p:cNvSpPr>
          <p:nvPr>
            <p:ph type="sldNum" sz="quarter" idx="12"/>
          </p:nvPr>
        </p:nvSpPr>
        <p:spPr/>
        <p:txBody>
          <a:bodyPr/>
          <a:lstStyle/>
          <a:p>
            <a:fld id="{5DF798F9-D8B6-47DF-BCE5-4149AE52B361}" type="slidenum">
              <a:rPr lang="en-IN" smtClean="0"/>
              <a:t>‹#›</a:t>
            </a:fld>
            <a:endParaRPr lang="en-IN"/>
          </a:p>
        </p:txBody>
      </p:sp>
    </p:spTree>
    <p:extLst>
      <p:ext uri="{BB962C8B-B14F-4D97-AF65-F5344CB8AC3E}">
        <p14:creationId xmlns:p14="http://schemas.microsoft.com/office/powerpoint/2010/main" val="4114046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6253E-1712-D0DA-BA30-FE0B8755A9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6AB8AB-5C3C-D355-D729-93AA00A611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580CD0-8A54-FD49-B720-9329E8067C86}"/>
              </a:ext>
            </a:extLst>
          </p:cNvPr>
          <p:cNvSpPr>
            <a:spLocks noGrp="1"/>
          </p:cNvSpPr>
          <p:nvPr>
            <p:ph type="dt" sz="half" idx="10"/>
          </p:nvPr>
        </p:nvSpPr>
        <p:spPr/>
        <p:txBody>
          <a:bodyPr/>
          <a:lstStyle/>
          <a:p>
            <a:fld id="{4A40ED9B-D250-42C5-8ECD-9FD82F9F80C7}" type="datetimeFigureOut">
              <a:rPr lang="en-IN" smtClean="0"/>
              <a:t>18-06-2024</a:t>
            </a:fld>
            <a:endParaRPr lang="en-IN"/>
          </a:p>
        </p:txBody>
      </p:sp>
      <p:sp>
        <p:nvSpPr>
          <p:cNvPr id="5" name="Footer Placeholder 4">
            <a:extLst>
              <a:ext uri="{FF2B5EF4-FFF2-40B4-BE49-F238E27FC236}">
                <a16:creationId xmlns:a16="http://schemas.microsoft.com/office/drawing/2014/main" id="{71DCCFE9-6B48-EE85-7F13-1500FD175F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C8C008-F699-F215-AEB2-30F282745B40}"/>
              </a:ext>
            </a:extLst>
          </p:cNvPr>
          <p:cNvSpPr>
            <a:spLocks noGrp="1"/>
          </p:cNvSpPr>
          <p:nvPr>
            <p:ph type="sldNum" sz="quarter" idx="12"/>
          </p:nvPr>
        </p:nvSpPr>
        <p:spPr/>
        <p:txBody>
          <a:bodyPr/>
          <a:lstStyle/>
          <a:p>
            <a:fld id="{5DF798F9-D8B6-47DF-BCE5-4149AE52B361}" type="slidenum">
              <a:rPr lang="en-IN" smtClean="0"/>
              <a:t>‹#›</a:t>
            </a:fld>
            <a:endParaRPr lang="en-IN"/>
          </a:p>
        </p:txBody>
      </p:sp>
    </p:spTree>
    <p:extLst>
      <p:ext uri="{BB962C8B-B14F-4D97-AF65-F5344CB8AC3E}">
        <p14:creationId xmlns:p14="http://schemas.microsoft.com/office/powerpoint/2010/main" val="2612455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C23BB-6104-9902-7984-EB6B3085F3D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4085161-EF5E-0DBF-6F31-6DE9F27924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8AB7B7-17A6-0F6A-EDFA-72650B6A37DE}"/>
              </a:ext>
            </a:extLst>
          </p:cNvPr>
          <p:cNvSpPr>
            <a:spLocks noGrp="1"/>
          </p:cNvSpPr>
          <p:nvPr>
            <p:ph type="dt" sz="half" idx="10"/>
          </p:nvPr>
        </p:nvSpPr>
        <p:spPr/>
        <p:txBody>
          <a:bodyPr/>
          <a:lstStyle/>
          <a:p>
            <a:fld id="{4A40ED9B-D250-42C5-8ECD-9FD82F9F80C7}" type="datetimeFigureOut">
              <a:rPr lang="en-IN" smtClean="0"/>
              <a:t>18-06-2024</a:t>
            </a:fld>
            <a:endParaRPr lang="en-IN"/>
          </a:p>
        </p:txBody>
      </p:sp>
      <p:sp>
        <p:nvSpPr>
          <p:cNvPr id="5" name="Footer Placeholder 4">
            <a:extLst>
              <a:ext uri="{FF2B5EF4-FFF2-40B4-BE49-F238E27FC236}">
                <a16:creationId xmlns:a16="http://schemas.microsoft.com/office/drawing/2014/main" id="{B774D29C-FA87-A1F4-FAD2-E722A272FC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EEA1F0-F7B3-1FF7-6D05-AB19D67D9263}"/>
              </a:ext>
            </a:extLst>
          </p:cNvPr>
          <p:cNvSpPr>
            <a:spLocks noGrp="1"/>
          </p:cNvSpPr>
          <p:nvPr>
            <p:ph type="sldNum" sz="quarter" idx="12"/>
          </p:nvPr>
        </p:nvSpPr>
        <p:spPr/>
        <p:txBody>
          <a:bodyPr/>
          <a:lstStyle/>
          <a:p>
            <a:fld id="{5DF798F9-D8B6-47DF-BCE5-4149AE52B361}" type="slidenum">
              <a:rPr lang="en-IN" smtClean="0"/>
              <a:t>‹#›</a:t>
            </a:fld>
            <a:endParaRPr lang="en-IN"/>
          </a:p>
        </p:txBody>
      </p:sp>
    </p:spTree>
    <p:extLst>
      <p:ext uri="{BB962C8B-B14F-4D97-AF65-F5344CB8AC3E}">
        <p14:creationId xmlns:p14="http://schemas.microsoft.com/office/powerpoint/2010/main" val="4087883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FE6B9-EC35-CCCF-7639-D843D3468D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02FCBE0-899C-0023-9DC9-DCCE64FB8A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284E352-335C-9C4A-5AA8-5B3FB7AA5C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6928957-63D7-AE2E-B58A-74988C75C23A}"/>
              </a:ext>
            </a:extLst>
          </p:cNvPr>
          <p:cNvSpPr>
            <a:spLocks noGrp="1"/>
          </p:cNvSpPr>
          <p:nvPr>
            <p:ph type="dt" sz="half" idx="10"/>
          </p:nvPr>
        </p:nvSpPr>
        <p:spPr/>
        <p:txBody>
          <a:bodyPr/>
          <a:lstStyle/>
          <a:p>
            <a:fld id="{4A40ED9B-D250-42C5-8ECD-9FD82F9F80C7}" type="datetimeFigureOut">
              <a:rPr lang="en-IN" smtClean="0"/>
              <a:t>18-06-2024</a:t>
            </a:fld>
            <a:endParaRPr lang="en-IN"/>
          </a:p>
        </p:txBody>
      </p:sp>
      <p:sp>
        <p:nvSpPr>
          <p:cNvPr id="6" name="Footer Placeholder 5">
            <a:extLst>
              <a:ext uri="{FF2B5EF4-FFF2-40B4-BE49-F238E27FC236}">
                <a16:creationId xmlns:a16="http://schemas.microsoft.com/office/drawing/2014/main" id="{9F59F61E-6EBD-884E-1636-027D93207F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C609FA-4B77-F1B5-C240-B3D250324F68}"/>
              </a:ext>
            </a:extLst>
          </p:cNvPr>
          <p:cNvSpPr>
            <a:spLocks noGrp="1"/>
          </p:cNvSpPr>
          <p:nvPr>
            <p:ph type="sldNum" sz="quarter" idx="12"/>
          </p:nvPr>
        </p:nvSpPr>
        <p:spPr/>
        <p:txBody>
          <a:bodyPr/>
          <a:lstStyle/>
          <a:p>
            <a:fld id="{5DF798F9-D8B6-47DF-BCE5-4149AE52B361}" type="slidenum">
              <a:rPr lang="en-IN" smtClean="0"/>
              <a:t>‹#›</a:t>
            </a:fld>
            <a:endParaRPr lang="en-IN"/>
          </a:p>
        </p:txBody>
      </p:sp>
    </p:spTree>
    <p:extLst>
      <p:ext uri="{BB962C8B-B14F-4D97-AF65-F5344CB8AC3E}">
        <p14:creationId xmlns:p14="http://schemas.microsoft.com/office/powerpoint/2010/main" val="169425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1A9E5-5979-80E0-3808-AA1C7057D9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B9BECDD-8015-48B6-149A-FA73D76A5E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4AD710-D8D0-283D-D47A-48978D82DA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5B34A87-2030-09A2-36D6-96140CBFD7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EBA3AE-0735-31BC-2312-8A8626D7C0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CAE014C-F227-32E5-5F48-D7957335A7C4}"/>
              </a:ext>
            </a:extLst>
          </p:cNvPr>
          <p:cNvSpPr>
            <a:spLocks noGrp="1"/>
          </p:cNvSpPr>
          <p:nvPr>
            <p:ph type="dt" sz="half" idx="10"/>
          </p:nvPr>
        </p:nvSpPr>
        <p:spPr/>
        <p:txBody>
          <a:bodyPr/>
          <a:lstStyle/>
          <a:p>
            <a:fld id="{4A40ED9B-D250-42C5-8ECD-9FD82F9F80C7}" type="datetimeFigureOut">
              <a:rPr lang="en-IN" smtClean="0"/>
              <a:t>18-06-2024</a:t>
            </a:fld>
            <a:endParaRPr lang="en-IN"/>
          </a:p>
        </p:txBody>
      </p:sp>
      <p:sp>
        <p:nvSpPr>
          <p:cNvPr id="8" name="Footer Placeholder 7">
            <a:extLst>
              <a:ext uri="{FF2B5EF4-FFF2-40B4-BE49-F238E27FC236}">
                <a16:creationId xmlns:a16="http://schemas.microsoft.com/office/drawing/2014/main" id="{4D52AAA4-5AC1-15B4-3FE8-6C8945B6DE1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BA80E14-454C-9EAC-1D46-36E389DC1854}"/>
              </a:ext>
            </a:extLst>
          </p:cNvPr>
          <p:cNvSpPr>
            <a:spLocks noGrp="1"/>
          </p:cNvSpPr>
          <p:nvPr>
            <p:ph type="sldNum" sz="quarter" idx="12"/>
          </p:nvPr>
        </p:nvSpPr>
        <p:spPr/>
        <p:txBody>
          <a:bodyPr/>
          <a:lstStyle/>
          <a:p>
            <a:fld id="{5DF798F9-D8B6-47DF-BCE5-4149AE52B361}" type="slidenum">
              <a:rPr lang="en-IN" smtClean="0"/>
              <a:t>‹#›</a:t>
            </a:fld>
            <a:endParaRPr lang="en-IN"/>
          </a:p>
        </p:txBody>
      </p:sp>
    </p:spTree>
    <p:extLst>
      <p:ext uri="{BB962C8B-B14F-4D97-AF65-F5344CB8AC3E}">
        <p14:creationId xmlns:p14="http://schemas.microsoft.com/office/powerpoint/2010/main" val="344503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8324E-175B-5FFB-9ACA-846755CD302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09ED88-3688-4D36-4D14-6D6B66BA2D67}"/>
              </a:ext>
            </a:extLst>
          </p:cNvPr>
          <p:cNvSpPr>
            <a:spLocks noGrp="1"/>
          </p:cNvSpPr>
          <p:nvPr>
            <p:ph type="dt" sz="half" idx="10"/>
          </p:nvPr>
        </p:nvSpPr>
        <p:spPr/>
        <p:txBody>
          <a:bodyPr/>
          <a:lstStyle/>
          <a:p>
            <a:fld id="{4A40ED9B-D250-42C5-8ECD-9FD82F9F80C7}" type="datetimeFigureOut">
              <a:rPr lang="en-IN" smtClean="0"/>
              <a:t>18-06-2024</a:t>
            </a:fld>
            <a:endParaRPr lang="en-IN"/>
          </a:p>
        </p:txBody>
      </p:sp>
      <p:sp>
        <p:nvSpPr>
          <p:cNvPr id="4" name="Footer Placeholder 3">
            <a:extLst>
              <a:ext uri="{FF2B5EF4-FFF2-40B4-BE49-F238E27FC236}">
                <a16:creationId xmlns:a16="http://schemas.microsoft.com/office/drawing/2014/main" id="{4C6352AF-964B-C546-2C07-3FB49139367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ED888D3-4B84-112F-4953-F7CAF3520F6D}"/>
              </a:ext>
            </a:extLst>
          </p:cNvPr>
          <p:cNvSpPr>
            <a:spLocks noGrp="1"/>
          </p:cNvSpPr>
          <p:nvPr>
            <p:ph type="sldNum" sz="quarter" idx="12"/>
          </p:nvPr>
        </p:nvSpPr>
        <p:spPr/>
        <p:txBody>
          <a:bodyPr/>
          <a:lstStyle/>
          <a:p>
            <a:fld id="{5DF798F9-D8B6-47DF-BCE5-4149AE52B361}" type="slidenum">
              <a:rPr lang="en-IN" smtClean="0"/>
              <a:t>‹#›</a:t>
            </a:fld>
            <a:endParaRPr lang="en-IN"/>
          </a:p>
        </p:txBody>
      </p:sp>
    </p:spTree>
    <p:extLst>
      <p:ext uri="{BB962C8B-B14F-4D97-AF65-F5344CB8AC3E}">
        <p14:creationId xmlns:p14="http://schemas.microsoft.com/office/powerpoint/2010/main" val="653319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9CFE7C-8B61-22DD-FA75-3DDBE5F2B3BE}"/>
              </a:ext>
            </a:extLst>
          </p:cNvPr>
          <p:cNvSpPr>
            <a:spLocks noGrp="1"/>
          </p:cNvSpPr>
          <p:nvPr>
            <p:ph type="dt" sz="half" idx="10"/>
          </p:nvPr>
        </p:nvSpPr>
        <p:spPr/>
        <p:txBody>
          <a:bodyPr/>
          <a:lstStyle/>
          <a:p>
            <a:fld id="{4A40ED9B-D250-42C5-8ECD-9FD82F9F80C7}" type="datetimeFigureOut">
              <a:rPr lang="en-IN" smtClean="0"/>
              <a:t>18-06-2024</a:t>
            </a:fld>
            <a:endParaRPr lang="en-IN"/>
          </a:p>
        </p:txBody>
      </p:sp>
      <p:sp>
        <p:nvSpPr>
          <p:cNvPr id="3" name="Footer Placeholder 2">
            <a:extLst>
              <a:ext uri="{FF2B5EF4-FFF2-40B4-BE49-F238E27FC236}">
                <a16:creationId xmlns:a16="http://schemas.microsoft.com/office/drawing/2014/main" id="{8440D3A7-98D3-E9AB-BCBD-248D8623901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FCBD1C1-A4F8-117D-0CF4-304CFECD8F0A}"/>
              </a:ext>
            </a:extLst>
          </p:cNvPr>
          <p:cNvSpPr>
            <a:spLocks noGrp="1"/>
          </p:cNvSpPr>
          <p:nvPr>
            <p:ph type="sldNum" sz="quarter" idx="12"/>
          </p:nvPr>
        </p:nvSpPr>
        <p:spPr/>
        <p:txBody>
          <a:bodyPr/>
          <a:lstStyle/>
          <a:p>
            <a:fld id="{5DF798F9-D8B6-47DF-BCE5-4149AE52B361}" type="slidenum">
              <a:rPr lang="en-IN" smtClean="0"/>
              <a:t>‹#›</a:t>
            </a:fld>
            <a:endParaRPr lang="en-IN"/>
          </a:p>
        </p:txBody>
      </p:sp>
    </p:spTree>
    <p:extLst>
      <p:ext uri="{BB962C8B-B14F-4D97-AF65-F5344CB8AC3E}">
        <p14:creationId xmlns:p14="http://schemas.microsoft.com/office/powerpoint/2010/main" val="3048579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8765C-1687-935A-1421-5453EEACC3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4EB74D6-1461-884D-2F57-0E138A8566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AB05170-8C02-B298-B9E3-7F79065240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B3E9A-8735-D260-DB0D-45A837446480}"/>
              </a:ext>
            </a:extLst>
          </p:cNvPr>
          <p:cNvSpPr>
            <a:spLocks noGrp="1"/>
          </p:cNvSpPr>
          <p:nvPr>
            <p:ph type="dt" sz="half" idx="10"/>
          </p:nvPr>
        </p:nvSpPr>
        <p:spPr/>
        <p:txBody>
          <a:bodyPr/>
          <a:lstStyle/>
          <a:p>
            <a:fld id="{4A40ED9B-D250-42C5-8ECD-9FD82F9F80C7}" type="datetimeFigureOut">
              <a:rPr lang="en-IN" smtClean="0"/>
              <a:t>18-06-2024</a:t>
            </a:fld>
            <a:endParaRPr lang="en-IN"/>
          </a:p>
        </p:txBody>
      </p:sp>
      <p:sp>
        <p:nvSpPr>
          <p:cNvPr id="6" name="Footer Placeholder 5">
            <a:extLst>
              <a:ext uri="{FF2B5EF4-FFF2-40B4-BE49-F238E27FC236}">
                <a16:creationId xmlns:a16="http://schemas.microsoft.com/office/drawing/2014/main" id="{369E6C73-D44F-7458-565B-584EB6BF57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A240F1-B876-5F77-44A6-CAA7683C2F91}"/>
              </a:ext>
            </a:extLst>
          </p:cNvPr>
          <p:cNvSpPr>
            <a:spLocks noGrp="1"/>
          </p:cNvSpPr>
          <p:nvPr>
            <p:ph type="sldNum" sz="quarter" idx="12"/>
          </p:nvPr>
        </p:nvSpPr>
        <p:spPr/>
        <p:txBody>
          <a:bodyPr/>
          <a:lstStyle/>
          <a:p>
            <a:fld id="{5DF798F9-D8B6-47DF-BCE5-4149AE52B361}" type="slidenum">
              <a:rPr lang="en-IN" smtClean="0"/>
              <a:t>‹#›</a:t>
            </a:fld>
            <a:endParaRPr lang="en-IN"/>
          </a:p>
        </p:txBody>
      </p:sp>
    </p:spTree>
    <p:extLst>
      <p:ext uri="{BB962C8B-B14F-4D97-AF65-F5344CB8AC3E}">
        <p14:creationId xmlns:p14="http://schemas.microsoft.com/office/powerpoint/2010/main" val="3323874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F8C6C-D4B2-0365-D93D-48B0157DEE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F749FAB-4316-2555-EFF0-A1447E8546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982A8D7-74E6-CED8-DB53-4BE7CCCE77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0F500C-0A35-7350-BBF2-4C95FCD31EE9}"/>
              </a:ext>
            </a:extLst>
          </p:cNvPr>
          <p:cNvSpPr>
            <a:spLocks noGrp="1"/>
          </p:cNvSpPr>
          <p:nvPr>
            <p:ph type="dt" sz="half" idx="10"/>
          </p:nvPr>
        </p:nvSpPr>
        <p:spPr/>
        <p:txBody>
          <a:bodyPr/>
          <a:lstStyle/>
          <a:p>
            <a:fld id="{4A40ED9B-D250-42C5-8ECD-9FD82F9F80C7}" type="datetimeFigureOut">
              <a:rPr lang="en-IN" smtClean="0"/>
              <a:t>18-06-2024</a:t>
            </a:fld>
            <a:endParaRPr lang="en-IN"/>
          </a:p>
        </p:txBody>
      </p:sp>
      <p:sp>
        <p:nvSpPr>
          <p:cNvPr id="6" name="Footer Placeholder 5">
            <a:extLst>
              <a:ext uri="{FF2B5EF4-FFF2-40B4-BE49-F238E27FC236}">
                <a16:creationId xmlns:a16="http://schemas.microsoft.com/office/drawing/2014/main" id="{D92AEC34-76B1-EA28-BA5B-95D59408AE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425B27-FDA5-08AF-FFCA-0AEDEE0EE592}"/>
              </a:ext>
            </a:extLst>
          </p:cNvPr>
          <p:cNvSpPr>
            <a:spLocks noGrp="1"/>
          </p:cNvSpPr>
          <p:nvPr>
            <p:ph type="sldNum" sz="quarter" idx="12"/>
          </p:nvPr>
        </p:nvSpPr>
        <p:spPr/>
        <p:txBody>
          <a:bodyPr/>
          <a:lstStyle/>
          <a:p>
            <a:fld id="{5DF798F9-D8B6-47DF-BCE5-4149AE52B361}" type="slidenum">
              <a:rPr lang="en-IN" smtClean="0"/>
              <a:t>‹#›</a:t>
            </a:fld>
            <a:endParaRPr lang="en-IN"/>
          </a:p>
        </p:txBody>
      </p:sp>
    </p:spTree>
    <p:extLst>
      <p:ext uri="{BB962C8B-B14F-4D97-AF65-F5344CB8AC3E}">
        <p14:creationId xmlns:p14="http://schemas.microsoft.com/office/powerpoint/2010/main" val="3339592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71C15-8140-B122-4079-48BF1BAFC38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C1A449-77B3-C445-ECBC-B59A142858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6A1091-39EA-2E01-6B43-B41DC29EC242}"/>
              </a:ext>
            </a:extLst>
          </p:cNvPr>
          <p:cNvSpPr>
            <a:spLocks noGrp="1"/>
          </p:cNvSpPr>
          <p:nvPr>
            <p:ph type="dt" sz="half" idx="10"/>
          </p:nvPr>
        </p:nvSpPr>
        <p:spPr/>
        <p:txBody>
          <a:bodyPr/>
          <a:lstStyle/>
          <a:p>
            <a:fld id="{4A40ED9B-D250-42C5-8ECD-9FD82F9F80C7}" type="datetimeFigureOut">
              <a:rPr lang="en-IN" smtClean="0"/>
              <a:t>18-06-2024</a:t>
            </a:fld>
            <a:endParaRPr lang="en-IN"/>
          </a:p>
        </p:txBody>
      </p:sp>
      <p:sp>
        <p:nvSpPr>
          <p:cNvPr id="5" name="Footer Placeholder 4">
            <a:extLst>
              <a:ext uri="{FF2B5EF4-FFF2-40B4-BE49-F238E27FC236}">
                <a16:creationId xmlns:a16="http://schemas.microsoft.com/office/drawing/2014/main" id="{69AE350A-B707-8D8D-6ECD-AD6FC2D8B5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EE7A38-E54C-FD23-1F9E-3DA77F802AB1}"/>
              </a:ext>
            </a:extLst>
          </p:cNvPr>
          <p:cNvSpPr>
            <a:spLocks noGrp="1"/>
          </p:cNvSpPr>
          <p:nvPr>
            <p:ph type="sldNum" sz="quarter" idx="12"/>
          </p:nvPr>
        </p:nvSpPr>
        <p:spPr/>
        <p:txBody>
          <a:bodyPr/>
          <a:lstStyle/>
          <a:p>
            <a:fld id="{5DF798F9-D8B6-47DF-BCE5-4149AE52B361}" type="slidenum">
              <a:rPr lang="en-IN" smtClean="0"/>
              <a:t>‹#›</a:t>
            </a:fld>
            <a:endParaRPr lang="en-IN"/>
          </a:p>
        </p:txBody>
      </p:sp>
    </p:spTree>
    <p:extLst>
      <p:ext uri="{BB962C8B-B14F-4D97-AF65-F5344CB8AC3E}">
        <p14:creationId xmlns:p14="http://schemas.microsoft.com/office/powerpoint/2010/main" val="366698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065552-66AC-87BE-641B-CDB5E182E65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FFEE89D-F6F6-859E-49FE-D5AA44A589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2749D7-162B-CB75-2B72-DC2A438623A3}"/>
              </a:ext>
            </a:extLst>
          </p:cNvPr>
          <p:cNvSpPr>
            <a:spLocks noGrp="1"/>
          </p:cNvSpPr>
          <p:nvPr>
            <p:ph type="dt" sz="half" idx="10"/>
          </p:nvPr>
        </p:nvSpPr>
        <p:spPr/>
        <p:txBody>
          <a:bodyPr/>
          <a:lstStyle/>
          <a:p>
            <a:fld id="{4A40ED9B-D250-42C5-8ECD-9FD82F9F80C7}" type="datetimeFigureOut">
              <a:rPr lang="en-IN" smtClean="0"/>
              <a:t>18-06-2024</a:t>
            </a:fld>
            <a:endParaRPr lang="en-IN"/>
          </a:p>
        </p:txBody>
      </p:sp>
      <p:sp>
        <p:nvSpPr>
          <p:cNvPr id="5" name="Footer Placeholder 4">
            <a:extLst>
              <a:ext uri="{FF2B5EF4-FFF2-40B4-BE49-F238E27FC236}">
                <a16:creationId xmlns:a16="http://schemas.microsoft.com/office/drawing/2014/main" id="{FCC3561F-21E2-EDA7-665D-2A7D875B06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C9D1CD-0C46-7364-F9A2-C54EF1F9E4A9}"/>
              </a:ext>
            </a:extLst>
          </p:cNvPr>
          <p:cNvSpPr>
            <a:spLocks noGrp="1"/>
          </p:cNvSpPr>
          <p:nvPr>
            <p:ph type="sldNum" sz="quarter" idx="12"/>
          </p:nvPr>
        </p:nvSpPr>
        <p:spPr/>
        <p:txBody>
          <a:bodyPr/>
          <a:lstStyle/>
          <a:p>
            <a:fld id="{5DF798F9-D8B6-47DF-BCE5-4149AE52B361}" type="slidenum">
              <a:rPr lang="en-IN" smtClean="0"/>
              <a:t>‹#›</a:t>
            </a:fld>
            <a:endParaRPr lang="en-IN"/>
          </a:p>
        </p:txBody>
      </p:sp>
    </p:spTree>
    <p:extLst>
      <p:ext uri="{BB962C8B-B14F-4D97-AF65-F5344CB8AC3E}">
        <p14:creationId xmlns:p14="http://schemas.microsoft.com/office/powerpoint/2010/main" val="673780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1A624C-F95E-9665-E773-DC3C6C6C4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0FA5266-9448-92F8-34C5-BE705B8C50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931994-7DF4-BAC5-3045-F4A4EDAC23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40ED9B-D250-42C5-8ECD-9FD82F9F80C7}" type="datetimeFigureOut">
              <a:rPr lang="en-IN" smtClean="0"/>
              <a:t>18-06-2024</a:t>
            </a:fld>
            <a:endParaRPr lang="en-IN"/>
          </a:p>
        </p:txBody>
      </p:sp>
      <p:sp>
        <p:nvSpPr>
          <p:cNvPr id="5" name="Footer Placeholder 4">
            <a:extLst>
              <a:ext uri="{FF2B5EF4-FFF2-40B4-BE49-F238E27FC236}">
                <a16:creationId xmlns:a16="http://schemas.microsoft.com/office/drawing/2014/main" id="{734F06D7-E14E-4674-7CE0-3F51DC9166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CB4E3C4-5DEC-0D85-435D-CBD4FC342B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F798F9-D8B6-47DF-BCE5-4149AE52B361}" type="slidenum">
              <a:rPr lang="en-IN" smtClean="0"/>
              <a:t>‹#›</a:t>
            </a:fld>
            <a:endParaRPr lang="en-IN"/>
          </a:p>
        </p:txBody>
      </p:sp>
    </p:spTree>
    <p:extLst>
      <p:ext uri="{BB962C8B-B14F-4D97-AF65-F5344CB8AC3E}">
        <p14:creationId xmlns:p14="http://schemas.microsoft.com/office/powerpoint/2010/main" val="15348583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BC6FA-55E9-ECB4-CEC2-5ADE6EBD94B4}"/>
              </a:ext>
            </a:extLst>
          </p:cNvPr>
          <p:cNvSpPr>
            <a:spLocks noGrp="1"/>
          </p:cNvSpPr>
          <p:nvPr>
            <p:ph type="ctrTitle"/>
          </p:nvPr>
        </p:nvSpPr>
        <p:spPr>
          <a:xfrm>
            <a:off x="1524000" y="1442402"/>
            <a:ext cx="9144000" cy="3190557"/>
          </a:xfrm>
        </p:spPr>
        <p:txBody>
          <a:bodyPr>
            <a:normAutofit/>
          </a:bodyPr>
          <a:lstStyle/>
          <a:p>
            <a:r>
              <a:rPr lang="en-IN" dirty="0">
                <a:solidFill>
                  <a:srgbClr val="FF0000"/>
                </a:solidFill>
              </a:rPr>
              <a:t>EXHAUST VALVE CONSTRUCTION AND WORKING</a:t>
            </a:r>
          </a:p>
        </p:txBody>
      </p:sp>
    </p:spTree>
    <p:extLst>
      <p:ext uri="{BB962C8B-B14F-4D97-AF65-F5344CB8AC3E}">
        <p14:creationId xmlns:p14="http://schemas.microsoft.com/office/powerpoint/2010/main" val="271699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BB093F-92DB-37F1-512A-5BAA85BF88E2}"/>
              </a:ext>
            </a:extLst>
          </p:cNvPr>
          <p:cNvSpPr>
            <a:spLocks noGrp="1"/>
          </p:cNvSpPr>
          <p:nvPr>
            <p:ph idx="1"/>
          </p:nvPr>
        </p:nvSpPr>
        <p:spPr>
          <a:xfrm>
            <a:off x="472440" y="792480"/>
            <a:ext cx="11506200" cy="5806440"/>
          </a:xfrm>
        </p:spPr>
        <p:txBody>
          <a:bodyPr>
            <a:normAutofit/>
          </a:bodyPr>
          <a:lstStyle/>
          <a:p>
            <a:pPr marL="342900" lvl="0" indent="-342900">
              <a:lnSpc>
                <a:spcPct val="107000"/>
              </a:lnSpc>
              <a:buFont typeface="+mj-lt"/>
              <a:buAutoNum type="arabicPeriod"/>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EXHAUST VALVE CONSTRUCTION</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a:lnSpc>
                <a:spcPct val="107000"/>
              </a:lnSpc>
              <a:buClr>
                <a:srgbClr val="202124"/>
              </a:buClr>
              <a:buNone/>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1. Exhaust valve casing</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The casing which is made of cast iron contains different components and driving arrangement for the exhaust valve. It also has jackets, through which, colling water passes for maintaining the valve temperature</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887171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DD892E-C1D4-8B48-C829-E43423FF00B2}"/>
              </a:ext>
            </a:extLst>
          </p:cNvPr>
          <p:cNvSpPr>
            <a:spLocks noGrp="1"/>
          </p:cNvSpPr>
          <p:nvPr>
            <p:ph idx="1"/>
          </p:nvPr>
        </p:nvSpPr>
        <p:spPr>
          <a:xfrm>
            <a:off x="701040" y="914400"/>
            <a:ext cx="11049000" cy="5262563"/>
          </a:xfrm>
        </p:spPr>
        <p:txBody>
          <a:bodyPr>
            <a:normAutofit/>
          </a:bodyPr>
          <a:lstStyle/>
          <a:p>
            <a:pPr marL="0" lvl="0" indent="0">
              <a:lnSpc>
                <a:spcPct val="107000"/>
              </a:lnSpc>
              <a:buClr>
                <a:srgbClr val="202124"/>
              </a:buClr>
              <a:buNone/>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2. Valve and Spindle</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The spindle is responsible to draw the exhaust gasses out from the engine cylinder when operated in an open and closed position. The spindle can be a molybdenum chrome alloy with a layer of stellite, welded onto the seating face, or alternatively, a heat resistant Nimonic alloy valve head, friction welded to an alloy steel shaft. The valve spindle is fitted with a winged valve rotator.</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880821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76AF0E-77D9-D9B9-1F24-F2C3908F2F20}"/>
              </a:ext>
            </a:extLst>
          </p:cNvPr>
          <p:cNvSpPr>
            <a:spLocks noGrp="1"/>
          </p:cNvSpPr>
          <p:nvPr>
            <p:ph idx="1"/>
          </p:nvPr>
        </p:nvSpPr>
        <p:spPr>
          <a:xfrm>
            <a:off x="518160" y="716280"/>
            <a:ext cx="11338560" cy="5684520"/>
          </a:xfrm>
        </p:spPr>
        <p:txBody>
          <a:bodyPr/>
          <a:lstStyle/>
          <a:p>
            <a:pPr marL="0" indent="0">
              <a:buNone/>
            </a:pPr>
            <a:r>
              <a:rPr lang="en-US" dirty="0"/>
              <a:t>3</a:t>
            </a:r>
            <a:r>
              <a:rPr lang="en-US" sz="3200" dirty="0"/>
              <a:t>. Exhaust valve seat</a:t>
            </a:r>
          </a:p>
          <a:p>
            <a:endParaRPr lang="en-US" sz="3200" dirty="0"/>
          </a:p>
          <a:p>
            <a:pPr>
              <a:buFont typeface="Wingdings" panose="05000000000000000000" pitchFamily="2" charset="2"/>
              <a:buChar char="§"/>
            </a:pPr>
            <a:r>
              <a:rPr lang="en-US" sz="3200" dirty="0"/>
              <a:t>The exhaust valve seat is a renewable valve seat that can be reconditioned or replaced in case of damage and is usually made from hardened molybdenum steel with stellite coating for good temperature resistant property.</a:t>
            </a:r>
          </a:p>
          <a:p>
            <a:endParaRPr lang="en-US" dirty="0"/>
          </a:p>
          <a:p>
            <a:endParaRPr lang="en-IN" dirty="0"/>
          </a:p>
        </p:txBody>
      </p:sp>
    </p:spTree>
    <p:extLst>
      <p:ext uri="{BB962C8B-B14F-4D97-AF65-F5344CB8AC3E}">
        <p14:creationId xmlns:p14="http://schemas.microsoft.com/office/powerpoint/2010/main" val="3988927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5E36C0-F6AE-9377-CDA1-7000257F5236}"/>
              </a:ext>
            </a:extLst>
          </p:cNvPr>
          <p:cNvSpPr>
            <a:spLocks noGrp="1"/>
          </p:cNvSpPr>
          <p:nvPr>
            <p:ph idx="1"/>
          </p:nvPr>
        </p:nvSpPr>
        <p:spPr>
          <a:xfrm>
            <a:off x="838200" y="1203960"/>
            <a:ext cx="10515600" cy="5151120"/>
          </a:xfrm>
        </p:spPr>
        <p:txBody>
          <a:bodyPr>
            <a:normAutofit/>
          </a:bodyPr>
          <a:lstStyle/>
          <a:p>
            <a:pPr marL="0" lvl="0" indent="0">
              <a:lnSpc>
                <a:spcPct val="107000"/>
              </a:lnSpc>
              <a:buClr>
                <a:srgbClr val="202124"/>
              </a:buClr>
              <a:buNone/>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4. Valve Face</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A ‘Stellite’ layer is welded to provide superior hardness, corrosion resistance, good surface finish, and high-temperature strength. This portion is subjected to very high temperatures and thermal and mechanical stresses.</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‘Stellite’: 2C, 50 Co, 20 Cr, 18 Mo, 10 Tungsten</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728185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307C00-E140-9B30-CD39-3A6A28DDF992}"/>
              </a:ext>
            </a:extLst>
          </p:cNvPr>
          <p:cNvSpPr>
            <a:spLocks noGrp="1"/>
          </p:cNvSpPr>
          <p:nvPr>
            <p:ph idx="1"/>
          </p:nvPr>
        </p:nvSpPr>
        <p:spPr>
          <a:xfrm>
            <a:off x="655320" y="929640"/>
            <a:ext cx="10698480" cy="5247323"/>
          </a:xfrm>
        </p:spPr>
        <p:txBody>
          <a:bodyPr/>
          <a:lstStyle/>
          <a:p>
            <a:pPr marL="0" indent="0">
              <a:buNone/>
            </a:pPr>
            <a:r>
              <a:rPr lang="en-US" dirty="0"/>
              <a:t>5. Valve Guide</a:t>
            </a:r>
          </a:p>
          <a:p>
            <a:endParaRPr lang="en-US" dirty="0"/>
          </a:p>
          <a:p>
            <a:pPr>
              <a:buFont typeface="Wingdings" panose="05000000000000000000" pitchFamily="2" charset="2"/>
              <a:buChar char="§"/>
            </a:pPr>
            <a:r>
              <a:rPr lang="en-US" dirty="0"/>
              <a:t>‘Pearlite’ Cast Iron.</a:t>
            </a:r>
          </a:p>
          <a:p>
            <a:endParaRPr lang="en-US" dirty="0"/>
          </a:p>
          <a:p>
            <a:pPr marL="0" indent="0">
              <a:buNone/>
            </a:pPr>
            <a:r>
              <a:rPr lang="en-US" dirty="0"/>
              <a:t>6. Valve Cotter</a:t>
            </a:r>
          </a:p>
          <a:p>
            <a:endParaRPr lang="en-US" dirty="0"/>
          </a:p>
          <a:p>
            <a:pPr>
              <a:buFont typeface="Wingdings" panose="05000000000000000000" pitchFamily="2" charset="2"/>
              <a:buChar char="§"/>
            </a:pPr>
            <a:r>
              <a:rPr lang="en-US" dirty="0"/>
              <a:t>A pair of valve cotter is used to lock the Valve stem with a spring retainer and ensures smooth functioning of the engine.</a:t>
            </a:r>
          </a:p>
          <a:p>
            <a:endParaRPr lang="en-US" dirty="0"/>
          </a:p>
          <a:p>
            <a:endParaRPr lang="en-IN" dirty="0"/>
          </a:p>
        </p:txBody>
      </p:sp>
    </p:spTree>
    <p:extLst>
      <p:ext uri="{BB962C8B-B14F-4D97-AF65-F5344CB8AC3E}">
        <p14:creationId xmlns:p14="http://schemas.microsoft.com/office/powerpoint/2010/main" val="566411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8F531A-ECF1-DC8F-FD1D-F7D6D19F00A0}"/>
              </a:ext>
            </a:extLst>
          </p:cNvPr>
          <p:cNvPicPr>
            <a:picLocks noChangeAspect="1"/>
          </p:cNvPicPr>
          <p:nvPr/>
        </p:nvPicPr>
        <p:blipFill>
          <a:blip r:embed="rId2"/>
          <a:stretch>
            <a:fillRect/>
          </a:stretch>
        </p:blipFill>
        <p:spPr>
          <a:xfrm>
            <a:off x="381000" y="0"/>
            <a:ext cx="11414760" cy="6858000"/>
          </a:xfrm>
          <a:prstGeom prst="rect">
            <a:avLst/>
          </a:prstGeom>
        </p:spPr>
      </p:pic>
    </p:spTree>
    <p:extLst>
      <p:ext uri="{BB962C8B-B14F-4D97-AF65-F5344CB8AC3E}">
        <p14:creationId xmlns:p14="http://schemas.microsoft.com/office/powerpoint/2010/main" val="2207905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91A3B4-8875-E4BE-5702-13137375EBA9}"/>
              </a:ext>
            </a:extLst>
          </p:cNvPr>
          <p:cNvSpPr>
            <a:spLocks noGrp="1"/>
          </p:cNvSpPr>
          <p:nvPr>
            <p:ph idx="1"/>
          </p:nvPr>
        </p:nvSpPr>
        <p:spPr>
          <a:xfrm>
            <a:off x="548640" y="777240"/>
            <a:ext cx="11033760" cy="5913120"/>
          </a:xfrm>
        </p:spPr>
        <p:txBody>
          <a:bodyPr>
            <a:normAutofit/>
          </a:bodyPr>
          <a:lstStyle/>
          <a:p>
            <a:pPr marL="0" lvl="0" indent="0">
              <a:lnSpc>
                <a:spcPct val="107000"/>
              </a:lnSpc>
              <a:buNone/>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2. EXHAUST VALVE WORKIGN</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The camshaft of the exhaust valve is connected to the crankshaft via chains or gears. Once the cam is in the cam profile, the hydraulic oil pump will overcome the spring force and the oil will be delivered to the exhaust valve at high pressure. </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The pressure at which the hydraulic oil operates the exhaust valve can go up to 150 – 220 bars.</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402936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6AAA19-0FCB-4891-E386-B3B2AEB16BF7}"/>
              </a:ext>
            </a:extLst>
          </p:cNvPr>
          <p:cNvSpPr>
            <a:spLocks noGrp="1"/>
          </p:cNvSpPr>
          <p:nvPr>
            <p:ph idx="1"/>
          </p:nvPr>
        </p:nvSpPr>
        <p:spPr>
          <a:xfrm>
            <a:off x="533400" y="790098"/>
            <a:ext cx="10927080" cy="5504022"/>
          </a:xfrm>
        </p:spPr>
        <p:txBody>
          <a:bodyPr/>
          <a:lstStyle/>
          <a:p>
            <a:pPr marL="342900" lvl="0" indent="-342900">
              <a:lnSpc>
                <a:spcPct val="107000"/>
              </a:lnSpc>
              <a:spcAft>
                <a:spcPts val="800"/>
              </a:spcAft>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Hydraulic oil chamber and the operating piston is on the top of the valve spindle.</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Wingdings" panose="05000000000000000000" pitchFamily="2" charset="2"/>
              <a:buChar char="§"/>
            </a:pPr>
            <a:r>
              <a:rPr lang="en-IN" sz="28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As the hydraulic oil pushes the operating piston, which is connected to the valve spindle, the valve will move down and allow the exhaust inside the cylinder to flow out of the engine to exhaust trunk. </a:t>
            </a:r>
            <a:endParaRPr lang="en-IN" dirty="0"/>
          </a:p>
        </p:txBody>
      </p:sp>
    </p:spTree>
    <p:extLst>
      <p:ext uri="{BB962C8B-B14F-4D97-AF65-F5344CB8AC3E}">
        <p14:creationId xmlns:p14="http://schemas.microsoft.com/office/powerpoint/2010/main" val="2571836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CBF824-9B5B-7AC5-C12A-E5F059581ACB}"/>
              </a:ext>
            </a:extLst>
          </p:cNvPr>
          <p:cNvSpPr>
            <a:spLocks noGrp="1"/>
          </p:cNvSpPr>
          <p:nvPr>
            <p:ph idx="1"/>
          </p:nvPr>
        </p:nvSpPr>
        <p:spPr>
          <a:xfrm>
            <a:off x="533400" y="1005840"/>
            <a:ext cx="11384280" cy="5532120"/>
          </a:xfrm>
        </p:spPr>
        <p:txBody>
          <a:bodyPr>
            <a:normAutofit/>
          </a:bodyPr>
          <a:lstStyle/>
          <a:p>
            <a:pPr marL="342900" lvl="0" indent="-342900">
              <a:lnSpc>
                <a:spcPct val="107000"/>
              </a:lnSpc>
              <a:spcAft>
                <a:spcPts val="800"/>
              </a:spcAft>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There is a spring air piston chamber which has an air supply connection. As the valve opens, the air underneath the piston is compressed. The expansion of this compressed air, when the hydraulic pressure is relieved assists in the closing of the valve.</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Wingdings" panose="05000000000000000000" pitchFamily="2" charset="2"/>
              <a:buChar char="§"/>
            </a:pPr>
            <a:r>
              <a:rPr lang="en-IN" sz="28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The air is supplied with a small amount of oil for lubrication purposes. Air is also led down the exhaust valve guide. This keeps the guide cool and lubricated and prevents the exhaust gas leaking up the guide.</a:t>
            </a:r>
            <a:endParaRPr lang="en-IN" dirty="0"/>
          </a:p>
        </p:txBody>
      </p:sp>
    </p:spTree>
    <p:extLst>
      <p:ext uri="{BB962C8B-B14F-4D97-AF65-F5344CB8AC3E}">
        <p14:creationId xmlns:p14="http://schemas.microsoft.com/office/powerpoint/2010/main" val="3020798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608B22-2580-E6C0-06C4-15AD2598215D}"/>
              </a:ext>
            </a:extLst>
          </p:cNvPr>
          <p:cNvSpPr>
            <a:spLocks noGrp="1"/>
          </p:cNvSpPr>
          <p:nvPr>
            <p:ph idx="1"/>
          </p:nvPr>
        </p:nvSpPr>
        <p:spPr>
          <a:xfrm>
            <a:off x="563880" y="701040"/>
            <a:ext cx="11186160" cy="5806440"/>
          </a:xfrm>
        </p:spPr>
        <p:txBody>
          <a:bodyPr>
            <a:normAutofit lnSpcReduction="10000"/>
          </a:bodyPr>
          <a:lstStyle/>
          <a:p>
            <a:pPr marL="0" lvl="0" indent="0">
              <a:lnSpc>
                <a:spcPct val="107000"/>
              </a:lnSpc>
              <a:buNone/>
            </a:pP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The kinetic energy in the exhaust gas rotates the valve because of winged valve rotator, which keeps the valve at an even temperature and helps reduce the build-up of deposits on the valve seat.</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Once the hydraulic oil pump roller comes off the cam profile, into the cam circle, the spring pressure will cut the supply of the hydraulic oil. Now the air supply, under the spring air piston, will close the valve and seal it with the valve seat, stopping the flow of the exhaust out of the cylinder. The air pressure is approx. 7 bar to close the valve. </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225091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D60A4B-89E9-6AE2-0D86-664338B80496}"/>
              </a:ext>
            </a:extLst>
          </p:cNvPr>
          <p:cNvSpPr>
            <a:spLocks noGrp="1"/>
          </p:cNvSpPr>
          <p:nvPr>
            <p:ph idx="1"/>
          </p:nvPr>
        </p:nvSpPr>
        <p:spPr>
          <a:xfrm>
            <a:off x="320040" y="630078"/>
            <a:ext cx="11384280" cy="5755482"/>
          </a:xfrm>
        </p:spPr>
        <p:txBody>
          <a:bodyPr>
            <a:normAutofit/>
          </a:bodyPr>
          <a:lstStyle/>
          <a:p>
            <a:pPr marL="342900" lvl="0" indent="-342900">
              <a:lnSpc>
                <a:spcPct val="107000"/>
              </a:lnSpc>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The oil remaining in the hydraulic oil chamber is taken out from the drain valve when the valve is closing due to air pressure. </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To prevent the possibility of an air lock, the hydraulic system has a small leak off at the top of the exhaust valve hydraulic cylinder. Oil is made up via a non-return valve. A relief valve is also fitted. </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A damping arrangement on top of the piston in the exhaust valve prevents hammering of the valve seating.</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064943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4F3F37-A319-53B5-7B39-AD7FF7F68A78}"/>
              </a:ext>
            </a:extLst>
          </p:cNvPr>
          <p:cNvSpPr>
            <a:spLocks noGrp="1"/>
          </p:cNvSpPr>
          <p:nvPr>
            <p:ph idx="1"/>
          </p:nvPr>
        </p:nvSpPr>
        <p:spPr>
          <a:xfrm>
            <a:off x="396240" y="822960"/>
            <a:ext cx="11155680" cy="5699760"/>
          </a:xfrm>
        </p:spPr>
        <p:txBody>
          <a:bodyPr>
            <a:normAutofit/>
          </a:bodyPr>
          <a:lstStyle/>
          <a:p>
            <a:pPr marL="342900" lvl="0" indent="-342900">
              <a:lnSpc>
                <a:spcPct val="107000"/>
              </a:lnSpc>
              <a:spcAft>
                <a:spcPts val="800"/>
              </a:spcAft>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In most of the modern engine, air pressure is used to close the valve. However, in some old engines, spring was used instead of air pressure to close the valve. (Note: In auxiliary engines a pair of springs is used). </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Wingdings" panose="05000000000000000000" pitchFamily="2" charset="2"/>
              <a:buChar char="§"/>
            </a:pPr>
            <a:r>
              <a:rPr lang="en-IN" sz="28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The overhauling period of Main engine exhaust valve depends on the maker and type of exhaust valve. However, in the modern marine engine, the interval can go up to 36000 hours; post that, the valve will need an overhaul. </a:t>
            </a:r>
            <a:br>
              <a:rPr lang="en-IN" sz="28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dirty="0"/>
          </a:p>
        </p:txBody>
      </p:sp>
    </p:spTree>
    <p:extLst>
      <p:ext uri="{BB962C8B-B14F-4D97-AF65-F5344CB8AC3E}">
        <p14:creationId xmlns:p14="http://schemas.microsoft.com/office/powerpoint/2010/main" val="2985306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759B61-9D1D-CCCC-9009-FF221FAB4CEB}"/>
              </a:ext>
            </a:extLst>
          </p:cNvPr>
          <p:cNvPicPr>
            <a:picLocks noChangeAspect="1"/>
          </p:cNvPicPr>
          <p:nvPr/>
        </p:nvPicPr>
        <p:blipFill>
          <a:blip r:embed="rId2"/>
          <a:stretch>
            <a:fillRect/>
          </a:stretch>
        </p:blipFill>
        <p:spPr>
          <a:xfrm>
            <a:off x="838200" y="0"/>
            <a:ext cx="10149840" cy="5791200"/>
          </a:xfrm>
          <a:prstGeom prst="rect">
            <a:avLst/>
          </a:prstGeom>
        </p:spPr>
      </p:pic>
      <p:sp>
        <p:nvSpPr>
          <p:cNvPr id="6" name="TextBox 5">
            <a:extLst>
              <a:ext uri="{FF2B5EF4-FFF2-40B4-BE49-F238E27FC236}">
                <a16:creationId xmlns:a16="http://schemas.microsoft.com/office/drawing/2014/main" id="{73BD6A99-897C-9F85-910F-632773124AA8}"/>
              </a:ext>
            </a:extLst>
          </p:cNvPr>
          <p:cNvSpPr txBox="1"/>
          <p:nvPr/>
        </p:nvSpPr>
        <p:spPr>
          <a:xfrm>
            <a:off x="1584960" y="5791200"/>
            <a:ext cx="9204960" cy="726481"/>
          </a:xfrm>
          <a:prstGeom prst="rect">
            <a:avLst/>
          </a:prstGeom>
          <a:noFill/>
        </p:spPr>
        <p:txBody>
          <a:bodyPr wrap="square">
            <a:spAutoFit/>
          </a:bodyPr>
          <a:lstStyle/>
          <a:p>
            <a:pPr lvl="0">
              <a:lnSpc>
                <a:spcPct val="107000"/>
              </a:lnSpc>
              <a:spcAft>
                <a:spcPts val="800"/>
              </a:spcAft>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EXHASUT AND INLET VALVES IN AUXILIARY ENGINES</a:t>
            </a:r>
            <a:br>
              <a:rPr lang="en-IN" sz="11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854153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E4C80B-700D-54D8-7782-C6D576B1DB50}"/>
              </a:ext>
            </a:extLst>
          </p:cNvPr>
          <p:cNvSpPr>
            <a:spLocks noGrp="1"/>
          </p:cNvSpPr>
          <p:nvPr>
            <p:ph idx="1"/>
          </p:nvPr>
        </p:nvSpPr>
        <p:spPr>
          <a:xfrm>
            <a:off x="472440" y="731520"/>
            <a:ext cx="11292840" cy="5745480"/>
          </a:xfrm>
        </p:spPr>
        <p:txBody>
          <a:bodyPr>
            <a:normAutofit/>
          </a:bodyPr>
          <a:lstStyle/>
          <a:p>
            <a:pPr marL="0" lvl="0" indent="0">
              <a:lnSpc>
                <a:spcPct val="107000"/>
              </a:lnSpc>
              <a:buNone/>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3. EXHAUST VALVE OPERATION IN ELECTRONIC ENGINES</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The exhaust valve actuator replaces the cam operated exhaust valve hydraulic pump on both make of camshaft-less engines.</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Both working on a similar principle, servo oil at 200 bar is used to operate a piston which operates the exhaust valve “hydraulic push rod” The oil for operating the “hydraulic push rod” comes from the main engine LO supply via a non-return valve.</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5759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07DE2E-0B2D-86CA-AED3-B765A728F18B}"/>
              </a:ext>
            </a:extLst>
          </p:cNvPr>
          <p:cNvPicPr>
            <a:picLocks noChangeAspect="1"/>
          </p:cNvPicPr>
          <p:nvPr/>
        </p:nvPicPr>
        <p:blipFill>
          <a:blip r:embed="rId2"/>
          <a:stretch>
            <a:fillRect/>
          </a:stretch>
        </p:blipFill>
        <p:spPr>
          <a:xfrm>
            <a:off x="1082040" y="0"/>
            <a:ext cx="10134599" cy="6858000"/>
          </a:xfrm>
          <a:prstGeom prst="rect">
            <a:avLst/>
          </a:prstGeom>
        </p:spPr>
      </p:pic>
    </p:spTree>
    <p:extLst>
      <p:ext uri="{BB962C8B-B14F-4D97-AF65-F5344CB8AC3E}">
        <p14:creationId xmlns:p14="http://schemas.microsoft.com/office/powerpoint/2010/main" val="1752232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C33AFD-CEF2-D526-A286-A056AB9CBCCD}"/>
              </a:ext>
            </a:extLst>
          </p:cNvPr>
          <p:cNvSpPr>
            <a:spLocks noGrp="1"/>
          </p:cNvSpPr>
          <p:nvPr>
            <p:ph idx="1"/>
          </p:nvPr>
        </p:nvSpPr>
        <p:spPr>
          <a:xfrm>
            <a:off x="396240" y="533400"/>
            <a:ext cx="11567160" cy="6065520"/>
          </a:xfrm>
        </p:spPr>
        <p:txBody>
          <a:bodyPr>
            <a:normAutofit lnSpcReduction="10000"/>
          </a:bodyPr>
          <a:lstStyle/>
          <a:p>
            <a:pPr marL="0" lvl="0" indent="0">
              <a:lnSpc>
                <a:spcPct val="107000"/>
              </a:lnSpc>
              <a:buNone/>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4. VARIABLE EXHAUST VALVE CLOSING</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In this system the valve closing timing is altered without disturbing the lift of the valve.</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This is done to optimize the exhaust valve operation over the normal load range, where the closing point of the exhaust valve is changed over 70-85% of MCR.</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During Variable Exhaust Closing operation if the exhaust valve is closed early, it means that the compression stroke of the piston is increased. This will lead to higher compression pressures and temperatures.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0157957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971</Words>
  <Application>Microsoft Office PowerPoint</Application>
  <PresentationFormat>Widescreen</PresentationFormat>
  <Paragraphs>42</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Roboto</vt:lpstr>
      <vt:lpstr>Wingdings</vt:lpstr>
      <vt:lpstr>Office Theme</vt:lpstr>
      <vt:lpstr>EXHAUST VALVE CONSTRUCTION AND WORKING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Tamjid Anjum</dc:creator>
  <cp:lastModifiedBy>Tamjid Anjum</cp:lastModifiedBy>
  <cp:revision>1</cp:revision>
  <dcterms:created xsi:type="dcterms:W3CDTF">2024-06-18T13:00:05Z</dcterms:created>
  <dcterms:modified xsi:type="dcterms:W3CDTF">2024-06-18T13:00:12Z</dcterms:modified>
</cp:coreProperties>
</file>