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835" r:id="rId3"/>
    <p:sldId id="257" r:id="rId4"/>
    <p:sldId id="690" r:id="rId5"/>
    <p:sldId id="83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67D756-F635-4D7E-9888-0E0FE1D187B8}" v="11" dt="2026-01-25T05:11:42.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98" autoAdjust="0"/>
    <p:restoredTop sz="94660"/>
  </p:normalViewPr>
  <p:slideViewPr>
    <p:cSldViewPr snapToGrid="0">
      <p:cViewPr varScale="1">
        <p:scale>
          <a:sx n="89" d="100"/>
          <a:sy n="89" d="100"/>
        </p:scale>
        <p:origin x="535" y="4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82228-8185-F27B-ADA9-DEFBE23066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5DB78F-823A-5BCB-0E18-0BA7863B08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C56969-DEF8-F5F8-C848-DF22F234AC42}"/>
              </a:ext>
            </a:extLst>
          </p:cNvPr>
          <p:cNvSpPr>
            <a:spLocks noGrp="1"/>
          </p:cNvSpPr>
          <p:nvPr>
            <p:ph type="dt" sz="half" idx="10"/>
          </p:nvPr>
        </p:nvSpPr>
        <p:spPr/>
        <p:txBody>
          <a:bodyPr/>
          <a:lstStyle/>
          <a:p>
            <a:fld id="{28F443B2-A54A-441D-B48B-DBACCDC03F37}" type="datetimeFigureOut">
              <a:rPr lang="en-US" smtClean="0"/>
              <a:t>1/25/2026</a:t>
            </a:fld>
            <a:endParaRPr lang="en-US"/>
          </a:p>
        </p:txBody>
      </p:sp>
      <p:sp>
        <p:nvSpPr>
          <p:cNvPr id="5" name="Footer Placeholder 4">
            <a:extLst>
              <a:ext uri="{FF2B5EF4-FFF2-40B4-BE49-F238E27FC236}">
                <a16:creationId xmlns:a16="http://schemas.microsoft.com/office/drawing/2014/main" id="{0F426F0C-92FF-9E17-A681-85F217FF5F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068DC8-C970-0504-4266-45BBF6456886}"/>
              </a:ext>
            </a:extLst>
          </p:cNvPr>
          <p:cNvSpPr>
            <a:spLocks noGrp="1"/>
          </p:cNvSpPr>
          <p:nvPr>
            <p:ph type="sldNum" sz="quarter" idx="12"/>
          </p:nvPr>
        </p:nvSpPr>
        <p:spPr/>
        <p:txBody>
          <a:bodyPr/>
          <a:lstStyle/>
          <a:p>
            <a:fld id="{88FA6345-4DE8-4024-A00C-1EE8BBA28E79}" type="slidenum">
              <a:rPr lang="en-US" smtClean="0"/>
              <a:t>‹#›</a:t>
            </a:fld>
            <a:endParaRPr lang="en-US"/>
          </a:p>
        </p:txBody>
      </p:sp>
    </p:spTree>
    <p:extLst>
      <p:ext uri="{BB962C8B-B14F-4D97-AF65-F5344CB8AC3E}">
        <p14:creationId xmlns:p14="http://schemas.microsoft.com/office/powerpoint/2010/main" val="3487497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80B36-8ED9-45CA-37CF-F1BC02D012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6C575B-A923-7470-5A06-1E2E1FC42B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36B3CD-25F0-4B28-0E10-97CEBD6C7D84}"/>
              </a:ext>
            </a:extLst>
          </p:cNvPr>
          <p:cNvSpPr>
            <a:spLocks noGrp="1"/>
          </p:cNvSpPr>
          <p:nvPr>
            <p:ph type="dt" sz="half" idx="10"/>
          </p:nvPr>
        </p:nvSpPr>
        <p:spPr/>
        <p:txBody>
          <a:bodyPr/>
          <a:lstStyle/>
          <a:p>
            <a:fld id="{28F443B2-A54A-441D-B48B-DBACCDC03F37}" type="datetimeFigureOut">
              <a:rPr lang="en-US" smtClean="0"/>
              <a:t>1/25/2026</a:t>
            </a:fld>
            <a:endParaRPr lang="en-US"/>
          </a:p>
        </p:txBody>
      </p:sp>
      <p:sp>
        <p:nvSpPr>
          <p:cNvPr id="5" name="Footer Placeholder 4">
            <a:extLst>
              <a:ext uri="{FF2B5EF4-FFF2-40B4-BE49-F238E27FC236}">
                <a16:creationId xmlns:a16="http://schemas.microsoft.com/office/drawing/2014/main" id="{C30741E1-B6B6-3718-0995-7C1688F55B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2C9E8A-47D0-023A-3590-F2AB0F252201}"/>
              </a:ext>
            </a:extLst>
          </p:cNvPr>
          <p:cNvSpPr>
            <a:spLocks noGrp="1"/>
          </p:cNvSpPr>
          <p:nvPr>
            <p:ph type="sldNum" sz="quarter" idx="12"/>
          </p:nvPr>
        </p:nvSpPr>
        <p:spPr/>
        <p:txBody>
          <a:bodyPr/>
          <a:lstStyle/>
          <a:p>
            <a:fld id="{88FA6345-4DE8-4024-A00C-1EE8BBA28E79}" type="slidenum">
              <a:rPr lang="en-US" smtClean="0"/>
              <a:t>‹#›</a:t>
            </a:fld>
            <a:endParaRPr lang="en-US"/>
          </a:p>
        </p:txBody>
      </p:sp>
    </p:spTree>
    <p:extLst>
      <p:ext uri="{BB962C8B-B14F-4D97-AF65-F5344CB8AC3E}">
        <p14:creationId xmlns:p14="http://schemas.microsoft.com/office/powerpoint/2010/main" val="1226096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44CB8-446C-28CA-41C6-69A21736A7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AB5DDF-9AA6-8A9F-C729-1F51BEFBCD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F0C700-3FE1-BC17-78FE-8D03C63ABA1F}"/>
              </a:ext>
            </a:extLst>
          </p:cNvPr>
          <p:cNvSpPr>
            <a:spLocks noGrp="1"/>
          </p:cNvSpPr>
          <p:nvPr>
            <p:ph type="dt" sz="half" idx="10"/>
          </p:nvPr>
        </p:nvSpPr>
        <p:spPr/>
        <p:txBody>
          <a:bodyPr/>
          <a:lstStyle/>
          <a:p>
            <a:fld id="{28F443B2-A54A-441D-B48B-DBACCDC03F37}" type="datetimeFigureOut">
              <a:rPr lang="en-US" smtClean="0"/>
              <a:t>1/25/2026</a:t>
            </a:fld>
            <a:endParaRPr lang="en-US"/>
          </a:p>
        </p:txBody>
      </p:sp>
      <p:sp>
        <p:nvSpPr>
          <p:cNvPr id="5" name="Footer Placeholder 4">
            <a:extLst>
              <a:ext uri="{FF2B5EF4-FFF2-40B4-BE49-F238E27FC236}">
                <a16:creationId xmlns:a16="http://schemas.microsoft.com/office/drawing/2014/main" id="{A51C9582-D1A6-4651-D586-2705B9EB26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49693-6566-CF92-6401-0A32A96B39C4}"/>
              </a:ext>
            </a:extLst>
          </p:cNvPr>
          <p:cNvSpPr>
            <a:spLocks noGrp="1"/>
          </p:cNvSpPr>
          <p:nvPr>
            <p:ph type="sldNum" sz="quarter" idx="12"/>
          </p:nvPr>
        </p:nvSpPr>
        <p:spPr/>
        <p:txBody>
          <a:bodyPr/>
          <a:lstStyle/>
          <a:p>
            <a:fld id="{88FA6345-4DE8-4024-A00C-1EE8BBA28E79}" type="slidenum">
              <a:rPr lang="en-US" smtClean="0"/>
              <a:t>‹#›</a:t>
            </a:fld>
            <a:endParaRPr lang="en-US"/>
          </a:p>
        </p:txBody>
      </p:sp>
    </p:spTree>
    <p:extLst>
      <p:ext uri="{BB962C8B-B14F-4D97-AF65-F5344CB8AC3E}">
        <p14:creationId xmlns:p14="http://schemas.microsoft.com/office/powerpoint/2010/main" val="278563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F3A5E-39E4-88CD-0CDB-9DCB4A891A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25C7BD-3FA8-70E4-95E2-4003CA2D23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54ACDE-2324-6830-D98F-8CF50709AE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B50428-D383-2B80-2D91-6B3C7FE18152}"/>
              </a:ext>
            </a:extLst>
          </p:cNvPr>
          <p:cNvSpPr>
            <a:spLocks noGrp="1"/>
          </p:cNvSpPr>
          <p:nvPr>
            <p:ph type="dt" sz="half" idx="10"/>
          </p:nvPr>
        </p:nvSpPr>
        <p:spPr/>
        <p:txBody>
          <a:bodyPr/>
          <a:lstStyle/>
          <a:p>
            <a:fld id="{28F443B2-A54A-441D-B48B-DBACCDC03F37}" type="datetimeFigureOut">
              <a:rPr lang="en-US" smtClean="0"/>
              <a:t>1/25/2026</a:t>
            </a:fld>
            <a:endParaRPr lang="en-US"/>
          </a:p>
        </p:txBody>
      </p:sp>
      <p:sp>
        <p:nvSpPr>
          <p:cNvPr id="6" name="Footer Placeholder 5">
            <a:extLst>
              <a:ext uri="{FF2B5EF4-FFF2-40B4-BE49-F238E27FC236}">
                <a16:creationId xmlns:a16="http://schemas.microsoft.com/office/drawing/2014/main" id="{88206BA0-BEDA-FCD5-1EF8-45FAF127B3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48DF30-4F7D-0A2C-5FA5-EF948521349D}"/>
              </a:ext>
            </a:extLst>
          </p:cNvPr>
          <p:cNvSpPr>
            <a:spLocks noGrp="1"/>
          </p:cNvSpPr>
          <p:nvPr>
            <p:ph type="sldNum" sz="quarter" idx="12"/>
          </p:nvPr>
        </p:nvSpPr>
        <p:spPr/>
        <p:txBody>
          <a:bodyPr/>
          <a:lstStyle/>
          <a:p>
            <a:fld id="{88FA6345-4DE8-4024-A00C-1EE8BBA28E79}" type="slidenum">
              <a:rPr lang="en-US" smtClean="0"/>
              <a:t>‹#›</a:t>
            </a:fld>
            <a:endParaRPr lang="en-US"/>
          </a:p>
        </p:txBody>
      </p:sp>
    </p:spTree>
    <p:extLst>
      <p:ext uri="{BB962C8B-B14F-4D97-AF65-F5344CB8AC3E}">
        <p14:creationId xmlns:p14="http://schemas.microsoft.com/office/powerpoint/2010/main" val="2723659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CCFD3-36B6-BC77-D4C2-A20B59F201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A0C5FF-9C92-66B8-6B39-793F4DB503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EE4384-6057-908E-42C6-92363A4F33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A9A25F-C764-BFFC-272C-202AA6F8EA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26D979-E89B-6C9D-D0F9-A81DCBC37E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24CBA7-8DA2-0D2E-75A9-82CB62E021B1}"/>
              </a:ext>
            </a:extLst>
          </p:cNvPr>
          <p:cNvSpPr>
            <a:spLocks noGrp="1"/>
          </p:cNvSpPr>
          <p:nvPr>
            <p:ph type="dt" sz="half" idx="10"/>
          </p:nvPr>
        </p:nvSpPr>
        <p:spPr/>
        <p:txBody>
          <a:bodyPr/>
          <a:lstStyle/>
          <a:p>
            <a:fld id="{28F443B2-A54A-441D-B48B-DBACCDC03F37}" type="datetimeFigureOut">
              <a:rPr lang="en-US" smtClean="0"/>
              <a:t>1/25/2026</a:t>
            </a:fld>
            <a:endParaRPr lang="en-US"/>
          </a:p>
        </p:txBody>
      </p:sp>
      <p:sp>
        <p:nvSpPr>
          <p:cNvPr id="8" name="Footer Placeholder 7">
            <a:extLst>
              <a:ext uri="{FF2B5EF4-FFF2-40B4-BE49-F238E27FC236}">
                <a16:creationId xmlns:a16="http://schemas.microsoft.com/office/drawing/2014/main" id="{D91D71E9-3C5B-4A16-7417-2E00E7DBB7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09B977-E69B-22D0-D4B5-A35747EC88EA}"/>
              </a:ext>
            </a:extLst>
          </p:cNvPr>
          <p:cNvSpPr>
            <a:spLocks noGrp="1"/>
          </p:cNvSpPr>
          <p:nvPr>
            <p:ph type="sldNum" sz="quarter" idx="12"/>
          </p:nvPr>
        </p:nvSpPr>
        <p:spPr/>
        <p:txBody>
          <a:bodyPr/>
          <a:lstStyle/>
          <a:p>
            <a:fld id="{88FA6345-4DE8-4024-A00C-1EE8BBA28E79}" type="slidenum">
              <a:rPr lang="en-US" smtClean="0"/>
              <a:t>‹#›</a:t>
            </a:fld>
            <a:endParaRPr lang="en-US"/>
          </a:p>
        </p:txBody>
      </p:sp>
    </p:spTree>
    <p:extLst>
      <p:ext uri="{BB962C8B-B14F-4D97-AF65-F5344CB8AC3E}">
        <p14:creationId xmlns:p14="http://schemas.microsoft.com/office/powerpoint/2010/main" val="513436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B2499-FA38-18EF-1623-4677348734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E1E56C-733F-9303-8044-092E7DC95904}"/>
              </a:ext>
            </a:extLst>
          </p:cNvPr>
          <p:cNvSpPr>
            <a:spLocks noGrp="1"/>
          </p:cNvSpPr>
          <p:nvPr>
            <p:ph type="dt" sz="half" idx="10"/>
          </p:nvPr>
        </p:nvSpPr>
        <p:spPr/>
        <p:txBody>
          <a:bodyPr/>
          <a:lstStyle/>
          <a:p>
            <a:fld id="{28F443B2-A54A-441D-B48B-DBACCDC03F37}" type="datetimeFigureOut">
              <a:rPr lang="en-US" smtClean="0"/>
              <a:t>1/25/2026</a:t>
            </a:fld>
            <a:endParaRPr lang="en-US"/>
          </a:p>
        </p:txBody>
      </p:sp>
      <p:sp>
        <p:nvSpPr>
          <p:cNvPr id="4" name="Footer Placeholder 3">
            <a:extLst>
              <a:ext uri="{FF2B5EF4-FFF2-40B4-BE49-F238E27FC236}">
                <a16:creationId xmlns:a16="http://schemas.microsoft.com/office/drawing/2014/main" id="{0C92DAE4-75CD-F540-0E9E-490083A5B4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AB204B-2A99-C809-654D-E48C07F796BC}"/>
              </a:ext>
            </a:extLst>
          </p:cNvPr>
          <p:cNvSpPr>
            <a:spLocks noGrp="1"/>
          </p:cNvSpPr>
          <p:nvPr>
            <p:ph type="sldNum" sz="quarter" idx="12"/>
          </p:nvPr>
        </p:nvSpPr>
        <p:spPr/>
        <p:txBody>
          <a:bodyPr/>
          <a:lstStyle/>
          <a:p>
            <a:fld id="{88FA6345-4DE8-4024-A00C-1EE8BBA28E79}" type="slidenum">
              <a:rPr lang="en-US" smtClean="0"/>
              <a:t>‹#›</a:t>
            </a:fld>
            <a:endParaRPr lang="en-US"/>
          </a:p>
        </p:txBody>
      </p:sp>
    </p:spTree>
    <p:extLst>
      <p:ext uri="{BB962C8B-B14F-4D97-AF65-F5344CB8AC3E}">
        <p14:creationId xmlns:p14="http://schemas.microsoft.com/office/powerpoint/2010/main" val="260301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01F4F2-3F18-26AA-5F11-52308D0F0BBE}"/>
              </a:ext>
            </a:extLst>
          </p:cNvPr>
          <p:cNvSpPr>
            <a:spLocks noGrp="1"/>
          </p:cNvSpPr>
          <p:nvPr>
            <p:ph type="dt" sz="half" idx="10"/>
          </p:nvPr>
        </p:nvSpPr>
        <p:spPr/>
        <p:txBody>
          <a:bodyPr/>
          <a:lstStyle/>
          <a:p>
            <a:fld id="{28F443B2-A54A-441D-B48B-DBACCDC03F37}" type="datetimeFigureOut">
              <a:rPr lang="en-US" smtClean="0"/>
              <a:t>1/25/2026</a:t>
            </a:fld>
            <a:endParaRPr lang="en-US"/>
          </a:p>
        </p:txBody>
      </p:sp>
      <p:sp>
        <p:nvSpPr>
          <p:cNvPr id="3" name="Footer Placeholder 2">
            <a:extLst>
              <a:ext uri="{FF2B5EF4-FFF2-40B4-BE49-F238E27FC236}">
                <a16:creationId xmlns:a16="http://schemas.microsoft.com/office/drawing/2014/main" id="{8F167889-C879-ECD8-9230-2A6C24D949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70FC47-5C77-78E8-FAA6-4FC51F685F57}"/>
              </a:ext>
            </a:extLst>
          </p:cNvPr>
          <p:cNvSpPr>
            <a:spLocks noGrp="1"/>
          </p:cNvSpPr>
          <p:nvPr>
            <p:ph type="sldNum" sz="quarter" idx="12"/>
          </p:nvPr>
        </p:nvSpPr>
        <p:spPr/>
        <p:txBody>
          <a:bodyPr/>
          <a:lstStyle/>
          <a:p>
            <a:fld id="{88FA6345-4DE8-4024-A00C-1EE8BBA28E79}" type="slidenum">
              <a:rPr lang="en-US" smtClean="0"/>
              <a:t>‹#›</a:t>
            </a:fld>
            <a:endParaRPr lang="en-US"/>
          </a:p>
        </p:txBody>
      </p:sp>
    </p:spTree>
    <p:extLst>
      <p:ext uri="{BB962C8B-B14F-4D97-AF65-F5344CB8AC3E}">
        <p14:creationId xmlns:p14="http://schemas.microsoft.com/office/powerpoint/2010/main" val="1609044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BEAE6-C29F-EF0C-34CB-67D3E75A2C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10FBC9-C809-1AEC-229F-7296F9F34D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60FDF6-881F-A2A9-ACF5-4C322676AD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1B160C-B592-C445-080A-0C464097BA5E}"/>
              </a:ext>
            </a:extLst>
          </p:cNvPr>
          <p:cNvSpPr>
            <a:spLocks noGrp="1"/>
          </p:cNvSpPr>
          <p:nvPr>
            <p:ph type="dt" sz="half" idx="10"/>
          </p:nvPr>
        </p:nvSpPr>
        <p:spPr/>
        <p:txBody>
          <a:bodyPr/>
          <a:lstStyle/>
          <a:p>
            <a:fld id="{28F443B2-A54A-441D-B48B-DBACCDC03F37}" type="datetimeFigureOut">
              <a:rPr lang="en-US" smtClean="0"/>
              <a:t>1/25/2026</a:t>
            </a:fld>
            <a:endParaRPr lang="en-US"/>
          </a:p>
        </p:txBody>
      </p:sp>
      <p:sp>
        <p:nvSpPr>
          <p:cNvPr id="6" name="Footer Placeholder 5">
            <a:extLst>
              <a:ext uri="{FF2B5EF4-FFF2-40B4-BE49-F238E27FC236}">
                <a16:creationId xmlns:a16="http://schemas.microsoft.com/office/drawing/2014/main" id="{8324A1B7-DC4D-45F6-AAFA-EC312F13FB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70A3A9-E49F-BFB0-837F-35BF3D8FC88B}"/>
              </a:ext>
            </a:extLst>
          </p:cNvPr>
          <p:cNvSpPr>
            <a:spLocks noGrp="1"/>
          </p:cNvSpPr>
          <p:nvPr>
            <p:ph type="sldNum" sz="quarter" idx="12"/>
          </p:nvPr>
        </p:nvSpPr>
        <p:spPr/>
        <p:txBody>
          <a:bodyPr/>
          <a:lstStyle/>
          <a:p>
            <a:fld id="{88FA6345-4DE8-4024-A00C-1EE8BBA28E79}" type="slidenum">
              <a:rPr lang="en-US" smtClean="0"/>
              <a:t>‹#›</a:t>
            </a:fld>
            <a:endParaRPr lang="en-US"/>
          </a:p>
        </p:txBody>
      </p:sp>
    </p:spTree>
    <p:extLst>
      <p:ext uri="{BB962C8B-B14F-4D97-AF65-F5344CB8AC3E}">
        <p14:creationId xmlns:p14="http://schemas.microsoft.com/office/powerpoint/2010/main" val="1343246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83C3E-93E1-3711-71C7-238F668BC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F67291-87A9-B5E3-B681-3B6AF2CD77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FB11FF-261C-143E-7549-74C768165C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90C7EB-0C9D-971F-D718-8AB71D5A31D8}"/>
              </a:ext>
            </a:extLst>
          </p:cNvPr>
          <p:cNvSpPr>
            <a:spLocks noGrp="1"/>
          </p:cNvSpPr>
          <p:nvPr>
            <p:ph type="dt" sz="half" idx="10"/>
          </p:nvPr>
        </p:nvSpPr>
        <p:spPr/>
        <p:txBody>
          <a:bodyPr/>
          <a:lstStyle/>
          <a:p>
            <a:fld id="{28F443B2-A54A-441D-B48B-DBACCDC03F37}" type="datetimeFigureOut">
              <a:rPr lang="en-US" smtClean="0"/>
              <a:t>1/25/2026</a:t>
            </a:fld>
            <a:endParaRPr lang="en-US"/>
          </a:p>
        </p:txBody>
      </p:sp>
      <p:sp>
        <p:nvSpPr>
          <p:cNvPr id="6" name="Footer Placeholder 5">
            <a:extLst>
              <a:ext uri="{FF2B5EF4-FFF2-40B4-BE49-F238E27FC236}">
                <a16:creationId xmlns:a16="http://schemas.microsoft.com/office/drawing/2014/main" id="{C23C946B-9F0D-5EB5-EBF3-13326FE1C2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A875F1-6E3B-4EA9-A223-9B876D0438C6}"/>
              </a:ext>
            </a:extLst>
          </p:cNvPr>
          <p:cNvSpPr>
            <a:spLocks noGrp="1"/>
          </p:cNvSpPr>
          <p:nvPr>
            <p:ph type="sldNum" sz="quarter" idx="12"/>
          </p:nvPr>
        </p:nvSpPr>
        <p:spPr/>
        <p:txBody>
          <a:bodyPr/>
          <a:lstStyle/>
          <a:p>
            <a:fld id="{88FA6345-4DE8-4024-A00C-1EE8BBA28E79}" type="slidenum">
              <a:rPr lang="en-US" smtClean="0"/>
              <a:t>‹#›</a:t>
            </a:fld>
            <a:endParaRPr lang="en-US"/>
          </a:p>
        </p:txBody>
      </p:sp>
    </p:spTree>
    <p:extLst>
      <p:ext uri="{BB962C8B-B14F-4D97-AF65-F5344CB8AC3E}">
        <p14:creationId xmlns:p14="http://schemas.microsoft.com/office/powerpoint/2010/main" val="696921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27D34-9321-5B38-FA2B-2E16CE6FDEA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56462E-9349-4A45-9A0D-DBD61497AB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DB394-B3DE-7D88-37F9-6AAC7516A856}"/>
              </a:ext>
            </a:extLst>
          </p:cNvPr>
          <p:cNvSpPr>
            <a:spLocks noGrp="1"/>
          </p:cNvSpPr>
          <p:nvPr>
            <p:ph type="dt" sz="half" idx="10"/>
          </p:nvPr>
        </p:nvSpPr>
        <p:spPr/>
        <p:txBody>
          <a:bodyPr/>
          <a:lstStyle/>
          <a:p>
            <a:fld id="{28F443B2-A54A-441D-B48B-DBACCDC03F37}" type="datetimeFigureOut">
              <a:rPr lang="en-US" smtClean="0"/>
              <a:t>1/25/2026</a:t>
            </a:fld>
            <a:endParaRPr lang="en-US"/>
          </a:p>
        </p:txBody>
      </p:sp>
      <p:sp>
        <p:nvSpPr>
          <p:cNvPr id="5" name="Footer Placeholder 4">
            <a:extLst>
              <a:ext uri="{FF2B5EF4-FFF2-40B4-BE49-F238E27FC236}">
                <a16:creationId xmlns:a16="http://schemas.microsoft.com/office/drawing/2014/main" id="{60CFB3E1-8E13-B10B-B59C-EBCDD28769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B8336D-F938-32A1-0894-C2F6D60B26F1}"/>
              </a:ext>
            </a:extLst>
          </p:cNvPr>
          <p:cNvSpPr>
            <a:spLocks noGrp="1"/>
          </p:cNvSpPr>
          <p:nvPr>
            <p:ph type="sldNum" sz="quarter" idx="12"/>
          </p:nvPr>
        </p:nvSpPr>
        <p:spPr/>
        <p:txBody>
          <a:bodyPr/>
          <a:lstStyle/>
          <a:p>
            <a:fld id="{88FA6345-4DE8-4024-A00C-1EE8BBA28E79}" type="slidenum">
              <a:rPr lang="en-US" smtClean="0"/>
              <a:t>‹#›</a:t>
            </a:fld>
            <a:endParaRPr lang="en-US"/>
          </a:p>
        </p:txBody>
      </p:sp>
    </p:spTree>
    <p:extLst>
      <p:ext uri="{BB962C8B-B14F-4D97-AF65-F5344CB8AC3E}">
        <p14:creationId xmlns:p14="http://schemas.microsoft.com/office/powerpoint/2010/main" val="918675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508ECA-BFD3-EA96-B7D7-F879BF35C8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81DCB1-1129-D177-F860-CEE2877C04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B0903E-5B3E-1BAB-BCDE-A0DD46124AFB}"/>
              </a:ext>
            </a:extLst>
          </p:cNvPr>
          <p:cNvSpPr>
            <a:spLocks noGrp="1"/>
          </p:cNvSpPr>
          <p:nvPr>
            <p:ph type="dt" sz="half" idx="10"/>
          </p:nvPr>
        </p:nvSpPr>
        <p:spPr/>
        <p:txBody>
          <a:bodyPr/>
          <a:lstStyle/>
          <a:p>
            <a:fld id="{28F443B2-A54A-441D-B48B-DBACCDC03F37}" type="datetimeFigureOut">
              <a:rPr lang="en-US" smtClean="0"/>
              <a:t>1/25/2026</a:t>
            </a:fld>
            <a:endParaRPr lang="en-US"/>
          </a:p>
        </p:txBody>
      </p:sp>
      <p:sp>
        <p:nvSpPr>
          <p:cNvPr id="5" name="Footer Placeholder 4">
            <a:extLst>
              <a:ext uri="{FF2B5EF4-FFF2-40B4-BE49-F238E27FC236}">
                <a16:creationId xmlns:a16="http://schemas.microsoft.com/office/drawing/2014/main" id="{18ED269F-E74E-8B64-C21D-A63F2B6CC7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339D80-8AC7-9AB4-7192-E16DBE47D76A}"/>
              </a:ext>
            </a:extLst>
          </p:cNvPr>
          <p:cNvSpPr>
            <a:spLocks noGrp="1"/>
          </p:cNvSpPr>
          <p:nvPr>
            <p:ph type="sldNum" sz="quarter" idx="12"/>
          </p:nvPr>
        </p:nvSpPr>
        <p:spPr/>
        <p:txBody>
          <a:bodyPr/>
          <a:lstStyle/>
          <a:p>
            <a:fld id="{88FA6345-4DE8-4024-A00C-1EE8BBA28E79}" type="slidenum">
              <a:rPr lang="en-US" smtClean="0"/>
              <a:t>‹#›</a:t>
            </a:fld>
            <a:endParaRPr lang="en-US"/>
          </a:p>
        </p:txBody>
      </p:sp>
    </p:spTree>
    <p:extLst>
      <p:ext uri="{BB962C8B-B14F-4D97-AF65-F5344CB8AC3E}">
        <p14:creationId xmlns:p14="http://schemas.microsoft.com/office/powerpoint/2010/main" val="2391105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8FABAD-6F6B-8D23-5007-E6D74816ED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E35B55-5F99-0761-C5A6-14E72C6A6C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796518-9FFF-EA79-693A-E807C5E6E2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F443B2-A54A-441D-B48B-DBACCDC03F37}" type="datetimeFigureOut">
              <a:rPr lang="en-US" smtClean="0"/>
              <a:t>1/25/2026</a:t>
            </a:fld>
            <a:endParaRPr lang="en-US"/>
          </a:p>
        </p:txBody>
      </p:sp>
      <p:sp>
        <p:nvSpPr>
          <p:cNvPr id="5" name="Footer Placeholder 4">
            <a:extLst>
              <a:ext uri="{FF2B5EF4-FFF2-40B4-BE49-F238E27FC236}">
                <a16:creationId xmlns:a16="http://schemas.microsoft.com/office/drawing/2014/main" id="{C85D8BC0-65A4-6AE3-55EC-CA601179D1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E42FDD-9A4E-C362-FF1B-4FBE930E02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FA6345-4DE8-4024-A00C-1EE8BBA28E79}" type="slidenum">
              <a:rPr lang="en-US" smtClean="0"/>
              <a:t>‹#›</a:t>
            </a:fld>
            <a:endParaRPr lang="en-US"/>
          </a:p>
        </p:txBody>
      </p:sp>
    </p:spTree>
    <p:extLst>
      <p:ext uri="{BB962C8B-B14F-4D97-AF65-F5344CB8AC3E}">
        <p14:creationId xmlns:p14="http://schemas.microsoft.com/office/powerpoint/2010/main" val="81830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949A82-7E93-BC8B-E6C3-029017E23A50}"/>
              </a:ext>
            </a:extLst>
          </p:cNvPr>
          <p:cNvSpPr txBox="1"/>
          <p:nvPr/>
        </p:nvSpPr>
        <p:spPr>
          <a:xfrm>
            <a:off x="589761" y="730438"/>
            <a:ext cx="8555944" cy="3416320"/>
          </a:xfrm>
          <a:prstGeom prst="rect">
            <a:avLst/>
          </a:prstGeom>
          <a:noFill/>
        </p:spPr>
        <p:txBody>
          <a:bodyPr wrap="square">
            <a:spAutoFit/>
          </a:bodyPr>
          <a:lstStyle/>
          <a:p>
            <a:r>
              <a:rPr lang="en-US" dirty="0"/>
              <a:t>5. </a:t>
            </a:r>
          </a:p>
          <a:p>
            <a:endParaRPr lang="en-US" dirty="0"/>
          </a:p>
          <a:p>
            <a:r>
              <a:rPr lang="en-US" dirty="0"/>
              <a:t>a) Describe how propeller shaft/stern bearing clearance is measured.</a:t>
            </a:r>
          </a:p>
          <a:p>
            <a:endParaRPr lang="en-US" dirty="0"/>
          </a:p>
          <a:p>
            <a:r>
              <a:rPr lang="en-US" dirty="0"/>
              <a:t> b) Identify with reasons the major factors which substantially determine the range of permissible clearance.</a:t>
            </a:r>
          </a:p>
          <a:p>
            <a:endParaRPr lang="en-US" dirty="0"/>
          </a:p>
          <a:p>
            <a:r>
              <a:rPr lang="en-US" dirty="0"/>
              <a:t> c) State with reasons what parts of propeller shafts should receive particularly close inspection upon withdrawal of such shafts for survey. </a:t>
            </a:r>
          </a:p>
          <a:p>
            <a:endParaRPr lang="en-US" dirty="0"/>
          </a:p>
          <a:p>
            <a:endParaRPr lang="en-US" dirty="0"/>
          </a:p>
          <a:p>
            <a:r>
              <a:rPr lang="en-US" dirty="0"/>
              <a:t>d) State why some propeller shafts require less frequent inspection than others</a:t>
            </a:r>
          </a:p>
        </p:txBody>
      </p:sp>
    </p:spTree>
    <p:extLst>
      <p:ext uri="{BB962C8B-B14F-4D97-AF65-F5344CB8AC3E}">
        <p14:creationId xmlns:p14="http://schemas.microsoft.com/office/powerpoint/2010/main" val="2628890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14AE5D-B8F8-02E6-2FF0-19418986175B}"/>
              </a:ext>
            </a:extLst>
          </p:cNvPr>
          <p:cNvSpPr txBox="1"/>
          <p:nvPr/>
        </p:nvSpPr>
        <p:spPr>
          <a:xfrm>
            <a:off x="145774" y="710655"/>
            <a:ext cx="11900452" cy="3693319"/>
          </a:xfrm>
          <a:prstGeom prst="rect">
            <a:avLst/>
          </a:prstGeom>
          <a:noFill/>
        </p:spPr>
        <p:txBody>
          <a:bodyPr wrap="square">
            <a:spAutoFit/>
          </a:bodyPr>
          <a:lstStyle/>
          <a:p>
            <a:pPr algn="just"/>
            <a:r>
              <a:rPr lang="en-US" b="1" i="0" dirty="0">
                <a:solidFill>
                  <a:srgbClr val="1B1B1B"/>
                </a:solidFill>
                <a:effectLst/>
                <a:latin typeface="Verdana, Geneva"/>
              </a:rPr>
              <a:t>1 Propeller Shaft Clearances - Measurement</a:t>
            </a:r>
            <a:endParaRPr lang="en-US" b="0" i="0" dirty="0">
              <a:solidFill>
                <a:srgbClr val="1B1B1B"/>
              </a:solidFill>
              <a:effectLst/>
              <a:latin typeface="Verdana" panose="020B0604030504040204" pitchFamily="34" charset="0"/>
            </a:endParaRPr>
          </a:p>
          <a:p>
            <a:pPr algn="just"/>
            <a:r>
              <a:rPr lang="en-US" b="0" i="0" dirty="0">
                <a:solidFill>
                  <a:srgbClr val="1B1B1B"/>
                </a:solidFill>
                <a:effectLst/>
                <a:latin typeface="Verdana, Geneva"/>
              </a:rPr>
              <a:t>Periodical docking surveys and periodical propeller shaft surveys are incomplete without propeller shaft clearances. These may be determined as bellows:</a:t>
            </a:r>
            <a:endParaRPr lang="en-US" b="0" i="0" dirty="0">
              <a:solidFill>
                <a:srgbClr val="1B1B1B"/>
              </a:solidFill>
              <a:effectLst/>
              <a:latin typeface="Verdana" panose="020B0604030504040204" pitchFamily="34" charset="0"/>
            </a:endParaRPr>
          </a:p>
          <a:p>
            <a:pPr algn="just">
              <a:buFont typeface="Arial" panose="020B0604020202020204" pitchFamily="34" charset="0"/>
              <a:buChar char="•"/>
            </a:pPr>
            <a:r>
              <a:rPr lang="en-US" b="0" i="0" dirty="0">
                <a:solidFill>
                  <a:srgbClr val="1B1B1B"/>
                </a:solidFill>
                <a:effectLst/>
                <a:latin typeface="Verdana, Geneva"/>
              </a:rPr>
              <a:t>When the shaft is removed for survey or maintenance, by calibration of journals and bearing bores.</a:t>
            </a:r>
            <a:endParaRPr lang="en-US" b="0" i="0" dirty="0">
              <a:solidFill>
                <a:srgbClr val="1B1B1B"/>
              </a:solidFill>
              <a:effectLst/>
              <a:latin typeface="Verdana" panose="020B0604030504040204" pitchFamily="34" charset="0"/>
            </a:endParaRPr>
          </a:p>
          <a:p>
            <a:pPr algn="just">
              <a:buFont typeface="Arial" panose="020B0604020202020204" pitchFamily="34" charset="0"/>
              <a:buChar char="•"/>
            </a:pPr>
            <a:r>
              <a:rPr lang="en-US" b="0" i="0" dirty="0">
                <a:solidFill>
                  <a:srgbClr val="1B1B1B"/>
                </a:solidFill>
                <a:effectLst/>
                <a:latin typeface="Verdana, Geneva"/>
              </a:rPr>
              <a:t>When bearing is exposed with shaft in place for partial survey or seal maintenance, by </a:t>
            </a:r>
            <a:r>
              <a:rPr lang="en-US" b="0" i="0" dirty="0" err="1">
                <a:solidFill>
                  <a:srgbClr val="1B1B1B"/>
                </a:solidFill>
                <a:effectLst/>
                <a:latin typeface="Verdana, Geneva"/>
              </a:rPr>
              <a:t>feelergauges</a:t>
            </a:r>
            <a:r>
              <a:rPr lang="en-US" b="0" i="0" dirty="0">
                <a:solidFill>
                  <a:srgbClr val="1B1B1B"/>
                </a:solidFill>
                <a:effectLst/>
                <a:latin typeface="Verdana, Geneva"/>
              </a:rPr>
              <a:t>, or soft wood wedge driven between shaft and bearing then measured with calipers.</a:t>
            </a:r>
            <a:endParaRPr lang="en-US" b="0" i="0" dirty="0">
              <a:solidFill>
                <a:srgbClr val="1B1B1B"/>
              </a:solidFill>
              <a:effectLst/>
              <a:latin typeface="Verdana" panose="020B0604030504040204" pitchFamily="34" charset="0"/>
            </a:endParaRPr>
          </a:p>
          <a:p>
            <a:pPr algn="just">
              <a:buFont typeface="Arial" panose="020B0604020202020204" pitchFamily="34" charset="0"/>
              <a:buChar char="•"/>
            </a:pPr>
            <a:r>
              <a:rPr lang="en-US" b="0" i="0" dirty="0">
                <a:solidFill>
                  <a:srgbClr val="1B1B1B"/>
                </a:solidFill>
                <a:effectLst/>
                <a:latin typeface="Verdana, Geneva"/>
              </a:rPr>
              <a:t>Normal running condition, by poker gauge comparing readings with previous measurements.</a:t>
            </a:r>
            <a:endParaRPr lang="en-US" b="0" i="0" dirty="0">
              <a:solidFill>
                <a:srgbClr val="1B1B1B"/>
              </a:solidFill>
              <a:effectLst/>
              <a:latin typeface="Verdana" panose="020B0604030504040204" pitchFamily="34" charset="0"/>
            </a:endParaRPr>
          </a:p>
          <a:p>
            <a:pPr algn="just">
              <a:buFont typeface="Arial" panose="020B0604020202020204" pitchFamily="34" charset="0"/>
              <a:buChar char="•"/>
            </a:pPr>
            <a:r>
              <a:rPr lang="en-US" b="0" i="0" dirty="0">
                <a:solidFill>
                  <a:srgbClr val="1B1B1B"/>
                </a:solidFill>
                <a:effectLst/>
                <a:latin typeface="Verdana, Geneva"/>
              </a:rPr>
              <a:t>In normal running condition, by lifting shaft and measuring the lift by dial gauge (Less accurate). Case needed to avoid undue force.</a:t>
            </a:r>
          </a:p>
          <a:p>
            <a:pPr algn="just">
              <a:buFont typeface="Arial" panose="020B0604020202020204" pitchFamily="34" charset="0"/>
              <a:buChar char="•"/>
            </a:pPr>
            <a:endParaRPr lang="en-US" dirty="0">
              <a:solidFill>
                <a:srgbClr val="1B1B1B"/>
              </a:solidFill>
              <a:latin typeface="Verdana, Geneva"/>
            </a:endParaRPr>
          </a:p>
          <a:p>
            <a:pPr algn="just">
              <a:buFont typeface="Arial" panose="020B0604020202020204" pitchFamily="34" charset="0"/>
              <a:buChar char="•"/>
            </a:pPr>
            <a:r>
              <a:rPr lang="en-US" b="0" i="0" dirty="0">
                <a:solidFill>
                  <a:srgbClr val="1B1B1B"/>
                </a:solidFill>
                <a:effectLst/>
                <a:latin typeface="Verdana, Geneva"/>
              </a:rPr>
              <a:t> Assessment of poker gauge readings can only be made if records of the previous readings are available, and the relative shaft clearance is known. Poker gauge readings taken in isolation produce no reliable value of bearing clearance.</a:t>
            </a:r>
            <a:endParaRPr lang="en-US" b="0" i="0" dirty="0">
              <a:solidFill>
                <a:srgbClr val="1B1B1B"/>
              </a:solidFill>
              <a:effectLst/>
              <a:latin typeface="Verdana" panose="020B0604030504040204" pitchFamily="34" charset="0"/>
            </a:endParaRPr>
          </a:p>
        </p:txBody>
      </p:sp>
      <p:sp>
        <p:nvSpPr>
          <p:cNvPr id="4" name="TextBox 3">
            <a:extLst>
              <a:ext uri="{FF2B5EF4-FFF2-40B4-BE49-F238E27FC236}">
                <a16:creationId xmlns:a16="http://schemas.microsoft.com/office/drawing/2014/main" id="{C8A3F678-49EC-BA3E-60C0-4691F0579A82}"/>
              </a:ext>
            </a:extLst>
          </p:cNvPr>
          <p:cNvSpPr txBox="1"/>
          <p:nvPr/>
        </p:nvSpPr>
        <p:spPr>
          <a:xfrm>
            <a:off x="-72280" y="0"/>
            <a:ext cx="12118506" cy="646331"/>
          </a:xfrm>
          <a:prstGeom prst="rect">
            <a:avLst/>
          </a:prstGeom>
          <a:noFill/>
        </p:spPr>
        <p:txBody>
          <a:bodyPr wrap="square">
            <a:spAutoFit/>
          </a:bodyPr>
          <a:lstStyle/>
          <a:p>
            <a:endParaRPr lang="en-US" dirty="0"/>
          </a:p>
          <a:p>
            <a:r>
              <a:rPr lang="en-US" dirty="0"/>
              <a:t>a) Describe how propeller shaft/stern bearing clearance is measured</a:t>
            </a:r>
          </a:p>
        </p:txBody>
      </p:sp>
    </p:spTree>
    <p:extLst>
      <p:ext uri="{BB962C8B-B14F-4D97-AF65-F5344CB8AC3E}">
        <p14:creationId xmlns:p14="http://schemas.microsoft.com/office/powerpoint/2010/main" val="3759665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DD5826-5CB0-44D1-E567-7D36700F8FCB}"/>
              </a:ext>
            </a:extLst>
          </p:cNvPr>
          <p:cNvSpPr txBox="1"/>
          <p:nvPr/>
        </p:nvSpPr>
        <p:spPr>
          <a:xfrm>
            <a:off x="156909" y="124446"/>
            <a:ext cx="11724880" cy="369332"/>
          </a:xfrm>
          <a:prstGeom prst="rect">
            <a:avLst/>
          </a:prstGeom>
          <a:noFill/>
        </p:spPr>
        <p:txBody>
          <a:bodyPr wrap="square">
            <a:spAutoFit/>
          </a:bodyPr>
          <a:lstStyle/>
          <a:p>
            <a:r>
              <a:rPr lang="en-US" dirty="0"/>
              <a:t> b) Identify with reasons the major factors which substantially determine the range of permissible clearance.</a:t>
            </a:r>
          </a:p>
        </p:txBody>
      </p:sp>
      <p:sp>
        <p:nvSpPr>
          <p:cNvPr id="6" name="TextBox 5">
            <a:extLst>
              <a:ext uri="{FF2B5EF4-FFF2-40B4-BE49-F238E27FC236}">
                <a16:creationId xmlns:a16="http://schemas.microsoft.com/office/drawing/2014/main" id="{B14BC76E-BA7E-9C81-7478-1DA6023BF8E7}"/>
              </a:ext>
            </a:extLst>
          </p:cNvPr>
          <p:cNvSpPr txBox="1"/>
          <p:nvPr/>
        </p:nvSpPr>
        <p:spPr>
          <a:xfrm>
            <a:off x="232658" y="493778"/>
            <a:ext cx="7455877" cy="6463308"/>
          </a:xfrm>
          <a:prstGeom prst="rect">
            <a:avLst/>
          </a:prstGeom>
          <a:noFill/>
        </p:spPr>
        <p:txBody>
          <a:bodyPr wrap="square">
            <a:spAutoFit/>
          </a:bodyPr>
          <a:lstStyle/>
          <a:p>
            <a:r>
              <a:rPr lang="en-US" dirty="0"/>
              <a:t>Major factors determining the range of permissible clearance include: </a:t>
            </a:r>
          </a:p>
          <a:p>
            <a:endParaRPr lang="en-US" dirty="0"/>
          </a:p>
          <a:p>
            <a:r>
              <a:rPr lang="en-US" dirty="0"/>
              <a:t>Shaft Diameter: Larger shafts require larger clearances to accommodate thermal expansion and to ensure that the oil film (or water layer) can be properly maintained over a larger surface area without causing excessive friction.</a:t>
            </a:r>
          </a:p>
          <a:p>
            <a:endParaRPr lang="en-US" dirty="0"/>
          </a:p>
          <a:p>
            <a:r>
              <a:rPr lang="en-US" dirty="0"/>
              <a:t>Lubrication Type (Oil vs. Water):Oil-Lubricated Bearings: Use white metal (babbitt) and require tighter tolerances to maintain a pressurized hydrodynamic oil film, as they operate under higher speed and pressure.</a:t>
            </a:r>
          </a:p>
          <a:p>
            <a:endParaRPr lang="en-US" dirty="0"/>
          </a:p>
          <a:p>
            <a:r>
              <a:rPr lang="en-US" dirty="0"/>
              <a:t>Water-Lubricated Bearings: Use Lignum Vitae, rubber, or synthetic materials. They require greater clearance because water has a much lower viscosity than oil, making it necessary to have a thicker film to prevent metal-to-metal contact, along with a need for space for water-borne abrasive particles (sand) to pass through without causing scoring.</a:t>
            </a:r>
          </a:p>
          <a:p>
            <a:endParaRPr lang="en-US" dirty="0"/>
          </a:p>
          <a:p>
            <a:r>
              <a:rPr lang="en-US" dirty="0"/>
              <a:t>Bearing Material: The material's thermal expansion properties and wear resistance dictate the initial clearances. Soft materials like rubber (water-lubricated) swell and require more clearance, while hard, metallic materials in oil-lubricated systems allow for closer tolerances.</a:t>
            </a:r>
          </a:p>
          <a:p>
            <a:endParaRPr lang="en-US" dirty="0"/>
          </a:p>
          <a:p>
            <a:endParaRPr lang="en-US" dirty="0"/>
          </a:p>
        </p:txBody>
      </p:sp>
      <p:pic>
        <p:nvPicPr>
          <p:cNvPr id="7" name="Picture 6">
            <a:extLst>
              <a:ext uri="{FF2B5EF4-FFF2-40B4-BE49-F238E27FC236}">
                <a16:creationId xmlns:a16="http://schemas.microsoft.com/office/drawing/2014/main" id="{1836C1C7-17EB-636D-506B-0DEA22B10054}"/>
              </a:ext>
            </a:extLst>
          </p:cNvPr>
          <p:cNvPicPr>
            <a:picLocks noChangeAspect="1"/>
          </p:cNvPicPr>
          <p:nvPr/>
        </p:nvPicPr>
        <p:blipFill rotWithShape="1">
          <a:blip r:embed="rId2"/>
          <a:srcRect l="22766" t="25252" r="31836" b="22595"/>
          <a:stretch/>
        </p:blipFill>
        <p:spPr>
          <a:xfrm>
            <a:off x="7841768" y="1270450"/>
            <a:ext cx="3789183" cy="2448565"/>
          </a:xfrm>
          <a:prstGeom prst="rect">
            <a:avLst/>
          </a:prstGeom>
        </p:spPr>
      </p:pic>
    </p:spTree>
    <p:extLst>
      <p:ext uri="{BB962C8B-B14F-4D97-AF65-F5344CB8AC3E}">
        <p14:creationId xmlns:p14="http://schemas.microsoft.com/office/powerpoint/2010/main" val="3882896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C0586740-B4D6-0FB9-CBE7-551C5DCAEF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33398"/>
            <a:ext cx="5295900" cy="3505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4952A41-2D46-A330-8E12-BAE7D5E36536}"/>
              </a:ext>
            </a:extLst>
          </p:cNvPr>
          <p:cNvSpPr txBox="1"/>
          <p:nvPr/>
        </p:nvSpPr>
        <p:spPr>
          <a:xfrm>
            <a:off x="5758521" y="3818157"/>
            <a:ext cx="6095144" cy="2031325"/>
          </a:xfrm>
          <a:prstGeom prst="rect">
            <a:avLst/>
          </a:prstGeom>
          <a:noFill/>
        </p:spPr>
        <p:txBody>
          <a:bodyPr wrap="square">
            <a:spAutoFit/>
          </a:bodyPr>
          <a:lstStyle/>
          <a:p>
            <a:pPr algn="l"/>
            <a:r>
              <a:rPr lang="en-US" b="0" i="0" dirty="0">
                <a:solidFill>
                  <a:srgbClr val="000000"/>
                </a:solidFill>
                <a:effectLst/>
                <a:latin typeface="Arial" panose="020B0604020202020204" pitchFamily="34" charset="0"/>
              </a:rPr>
              <a:t>Crack detection may be by dye penetrant method or magnetic particle method. Magnetic particle inspection is preferred because it is more sensitive when properly carried out.</a:t>
            </a:r>
          </a:p>
          <a:p>
            <a:pPr algn="l"/>
            <a:r>
              <a:rPr lang="en-US" b="0" i="0" dirty="0">
                <a:solidFill>
                  <a:srgbClr val="000000"/>
                </a:solidFill>
                <a:effectLst/>
                <a:latin typeface="Arial" panose="020B0604020202020204" pitchFamily="34" charset="0"/>
              </a:rPr>
              <a:t>In both cases the area to be checked must be thoroughly cleaned. Where possible a qualified technician is preferred working to recognized standards.</a:t>
            </a:r>
          </a:p>
        </p:txBody>
      </p:sp>
      <p:sp>
        <p:nvSpPr>
          <p:cNvPr id="5" name="TextBox 4">
            <a:extLst>
              <a:ext uri="{FF2B5EF4-FFF2-40B4-BE49-F238E27FC236}">
                <a16:creationId xmlns:a16="http://schemas.microsoft.com/office/drawing/2014/main" id="{E826C65C-0FD6-2069-2DF2-E0B1B1F1425E}"/>
              </a:ext>
            </a:extLst>
          </p:cNvPr>
          <p:cNvSpPr txBox="1"/>
          <p:nvPr/>
        </p:nvSpPr>
        <p:spPr>
          <a:xfrm>
            <a:off x="50047" y="546853"/>
            <a:ext cx="11101303" cy="646331"/>
          </a:xfrm>
          <a:prstGeom prst="rect">
            <a:avLst/>
          </a:prstGeom>
          <a:noFill/>
        </p:spPr>
        <p:txBody>
          <a:bodyPr wrap="square">
            <a:spAutoFit/>
          </a:bodyPr>
          <a:lstStyle/>
          <a:p>
            <a:r>
              <a:rPr lang="en-US" dirty="0"/>
              <a:t> c) State with reasons what parts of propeller shafts should receive particularly close inspection upon withdrawal of such shafts for survey. </a:t>
            </a:r>
          </a:p>
        </p:txBody>
      </p:sp>
    </p:spTree>
    <p:extLst>
      <p:ext uri="{BB962C8B-B14F-4D97-AF65-F5344CB8AC3E}">
        <p14:creationId xmlns:p14="http://schemas.microsoft.com/office/powerpoint/2010/main" val="993419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3BD79C-2CB1-22D7-B622-278061E21141}"/>
              </a:ext>
            </a:extLst>
          </p:cNvPr>
          <p:cNvSpPr txBox="1"/>
          <p:nvPr/>
        </p:nvSpPr>
        <p:spPr>
          <a:xfrm>
            <a:off x="146088" y="265122"/>
            <a:ext cx="8996559" cy="369332"/>
          </a:xfrm>
          <a:prstGeom prst="rect">
            <a:avLst/>
          </a:prstGeom>
          <a:noFill/>
        </p:spPr>
        <p:txBody>
          <a:bodyPr wrap="square">
            <a:spAutoFit/>
          </a:bodyPr>
          <a:lstStyle/>
          <a:p>
            <a:r>
              <a:rPr lang="en-US" dirty="0"/>
              <a:t>State why some propeller shafts require less frequent inspection than others</a:t>
            </a:r>
          </a:p>
        </p:txBody>
      </p:sp>
      <p:pic>
        <p:nvPicPr>
          <p:cNvPr id="4" name="Picture 3">
            <a:extLst>
              <a:ext uri="{FF2B5EF4-FFF2-40B4-BE49-F238E27FC236}">
                <a16:creationId xmlns:a16="http://schemas.microsoft.com/office/drawing/2014/main" id="{A1F4B0E9-DF0E-B83D-573C-A780FBEBDA66}"/>
              </a:ext>
            </a:extLst>
          </p:cNvPr>
          <p:cNvPicPr>
            <a:picLocks noChangeAspect="1"/>
          </p:cNvPicPr>
          <p:nvPr/>
        </p:nvPicPr>
        <p:blipFill rotWithShape="1">
          <a:blip r:embed="rId2"/>
          <a:srcRect l="28333" t="11389" r="34040" b="76400"/>
          <a:stretch>
            <a:fillRect/>
          </a:stretch>
        </p:blipFill>
        <p:spPr>
          <a:xfrm>
            <a:off x="259809" y="1296539"/>
            <a:ext cx="4762567" cy="1030406"/>
          </a:xfrm>
          <a:prstGeom prst="rect">
            <a:avLst/>
          </a:prstGeom>
        </p:spPr>
      </p:pic>
      <p:pic>
        <p:nvPicPr>
          <p:cNvPr id="5" name="Picture 4">
            <a:extLst>
              <a:ext uri="{FF2B5EF4-FFF2-40B4-BE49-F238E27FC236}">
                <a16:creationId xmlns:a16="http://schemas.microsoft.com/office/drawing/2014/main" id="{80BD49D3-9242-3B9E-D132-8BD25E764870}"/>
              </a:ext>
            </a:extLst>
          </p:cNvPr>
          <p:cNvPicPr>
            <a:picLocks noChangeAspect="1"/>
          </p:cNvPicPr>
          <p:nvPr/>
        </p:nvPicPr>
        <p:blipFill rotWithShape="1">
          <a:blip r:embed="rId3"/>
          <a:srcRect l="28444" t="69344" r="33188" b="8240"/>
          <a:stretch>
            <a:fillRect/>
          </a:stretch>
        </p:blipFill>
        <p:spPr>
          <a:xfrm>
            <a:off x="196476" y="2989030"/>
            <a:ext cx="7153439" cy="2786179"/>
          </a:xfrm>
          <a:prstGeom prst="rect">
            <a:avLst/>
          </a:prstGeom>
        </p:spPr>
      </p:pic>
      <p:sp>
        <p:nvSpPr>
          <p:cNvPr id="6" name="TextBox 5">
            <a:extLst>
              <a:ext uri="{FF2B5EF4-FFF2-40B4-BE49-F238E27FC236}">
                <a16:creationId xmlns:a16="http://schemas.microsoft.com/office/drawing/2014/main" id="{E03AB130-B64E-22A6-6307-DF9C702D8035}"/>
              </a:ext>
            </a:extLst>
          </p:cNvPr>
          <p:cNvSpPr txBox="1"/>
          <p:nvPr/>
        </p:nvSpPr>
        <p:spPr>
          <a:xfrm>
            <a:off x="491319" y="2436125"/>
            <a:ext cx="4640239" cy="369332"/>
          </a:xfrm>
          <a:prstGeom prst="rect">
            <a:avLst/>
          </a:prstGeom>
          <a:noFill/>
        </p:spPr>
        <p:txBody>
          <a:bodyPr wrap="square" rtlCol="0">
            <a:spAutoFit/>
          </a:bodyPr>
          <a:lstStyle/>
          <a:p>
            <a:r>
              <a:rPr lang="en-US" dirty="0"/>
              <a:t>If following pre- requisites followed</a:t>
            </a:r>
          </a:p>
        </p:txBody>
      </p:sp>
    </p:spTree>
    <p:extLst>
      <p:ext uri="{BB962C8B-B14F-4D97-AF65-F5344CB8AC3E}">
        <p14:creationId xmlns:p14="http://schemas.microsoft.com/office/powerpoint/2010/main" val="4187544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1411</TotalTime>
  <Words>539</Words>
  <Application>Microsoft Office PowerPoint</Application>
  <PresentationFormat>Widescreen</PresentationFormat>
  <Paragraphs>35</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Verdana</vt:lpstr>
      <vt:lpstr>Verdana, Geneva</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Engineering Unlimited</dc:creator>
  <cp:lastModifiedBy>Engineering Unlimited</cp:lastModifiedBy>
  <cp:revision>2</cp:revision>
  <dcterms:created xsi:type="dcterms:W3CDTF">2026-01-24T05:40:19Z</dcterms:created>
  <dcterms:modified xsi:type="dcterms:W3CDTF">2026-01-25T10:41:21Z</dcterms:modified>
</cp:coreProperties>
</file>