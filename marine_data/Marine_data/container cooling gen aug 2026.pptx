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61" r:id="rId2"/>
    <p:sldId id="258"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98" autoAdjust="0"/>
    <p:restoredTop sz="94660"/>
  </p:normalViewPr>
  <p:slideViewPr>
    <p:cSldViewPr snapToGrid="0">
      <p:cViewPr>
        <p:scale>
          <a:sx n="90" d="100"/>
          <a:sy n="90" d="100"/>
        </p:scale>
        <p:origin x="490" y="5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B4575D-ECC2-4FC7-A323-3ACE45E132AB}" type="datetimeFigureOut">
              <a:rPr lang="en-US" smtClean="0"/>
              <a:t>1/20/2026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03619E-999B-4D14-B07C-A2053B33A07D}" type="slidenum">
              <a:rPr lang="en-US" smtClean="0"/>
              <a:t>‹#›</a:t>
            </a:fld>
            <a:endParaRPr lang="en-US"/>
          </a:p>
        </p:txBody>
      </p:sp>
    </p:spTree>
    <p:extLst>
      <p:ext uri="{BB962C8B-B14F-4D97-AF65-F5344CB8AC3E}">
        <p14:creationId xmlns:p14="http://schemas.microsoft.com/office/powerpoint/2010/main" val="2889786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03619E-999B-4D14-B07C-A2053B33A07D}" type="slidenum">
              <a:rPr lang="en-US" smtClean="0"/>
              <a:t>4</a:t>
            </a:fld>
            <a:endParaRPr lang="en-US"/>
          </a:p>
        </p:txBody>
      </p:sp>
    </p:spTree>
    <p:extLst>
      <p:ext uri="{BB962C8B-B14F-4D97-AF65-F5344CB8AC3E}">
        <p14:creationId xmlns:p14="http://schemas.microsoft.com/office/powerpoint/2010/main" val="2316076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53710-BF80-39E3-B2C4-322BB61E27A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700ABA0-4A50-FC1E-EB68-7A679C8ECA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5F445C-BABC-1F48-0C21-E511D6290D2E}"/>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5" name="Footer Placeholder 4">
            <a:extLst>
              <a:ext uri="{FF2B5EF4-FFF2-40B4-BE49-F238E27FC236}">
                <a16:creationId xmlns:a16="http://schemas.microsoft.com/office/drawing/2014/main" id="{C9EC8400-0E58-C294-97EC-7683E93BE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38F1D5-2CB6-5306-DC3D-08870292A862}"/>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643627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2E78-174B-294F-9A96-C6C65021BE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0E2533-1FBC-F429-7C37-8476490160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8C2F20-BFFF-2D4C-4AB8-9DB7CB7A993D}"/>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5" name="Footer Placeholder 4">
            <a:extLst>
              <a:ext uri="{FF2B5EF4-FFF2-40B4-BE49-F238E27FC236}">
                <a16:creationId xmlns:a16="http://schemas.microsoft.com/office/drawing/2014/main" id="{14BFEC3E-4479-72B6-8B4D-7F4333C6F6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D882C-0D53-17AB-0B8C-FDCEC81DA362}"/>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2727280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49F3D-773A-8F27-6B20-860492C009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15F9FE-D7D9-D03B-A913-29B801318E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F1C86F-4D2C-769F-826B-ABFAB526BF1F}"/>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5" name="Footer Placeholder 4">
            <a:extLst>
              <a:ext uri="{FF2B5EF4-FFF2-40B4-BE49-F238E27FC236}">
                <a16:creationId xmlns:a16="http://schemas.microsoft.com/office/drawing/2014/main" id="{C13F16C5-251E-ABD9-9099-9D8940C0C0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9BEB9E-2F26-1BCB-0A52-9C0B4CAF6C69}"/>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2330329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3709F-DB99-E5B9-E2A8-00431058F7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03E69-075B-CDA5-398C-B5D54A045B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F7CEE2-BA22-9212-BF98-498C82063B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6FC9A9-7CE2-5DE3-0EC4-F4B214DA6277}"/>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6" name="Footer Placeholder 5">
            <a:extLst>
              <a:ext uri="{FF2B5EF4-FFF2-40B4-BE49-F238E27FC236}">
                <a16:creationId xmlns:a16="http://schemas.microsoft.com/office/drawing/2014/main" id="{F6D318BC-7450-798B-0D74-EEB43F204E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038C0F-D1E2-D7E6-E275-0781900F47B2}"/>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1907532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BF277-39A7-4F26-13DB-4674508DA87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307A32-507D-8525-325E-D9DC5FAC21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998F0E-BC07-C829-00E2-95F3BEBBCD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231FF0-ED21-CDB7-A545-87E9FAD0F7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AFEE0D-6D3C-2418-0EF6-C6C1300C21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99EB4EF-F2A4-2FFF-FB5D-9D3D182381DF}"/>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8" name="Footer Placeholder 7">
            <a:extLst>
              <a:ext uri="{FF2B5EF4-FFF2-40B4-BE49-F238E27FC236}">
                <a16:creationId xmlns:a16="http://schemas.microsoft.com/office/drawing/2014/main" id="{4C44B848-6CE5-ADF0-6F7C-BBEF52AECC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E2FE4DE-B3AB-6577-DE2E-16A9588F6932}"/>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2184027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3CC0-DB09-6139-B49D-1172072A2F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111551B-49BB-65CB-A85A-9503D74AA0B7}"/>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4" name="Footer Placeholder 3">
            <a:extLst>
              <a:ext uri="{FF2B5EF4-FFF2-40B4-BE49-F238E27FC236}">
                <a16:creationId xmlns:a16="http://schemas.microsoft.com/office/drawing/2014/main" id="{0D285556-D7A6-69CE-380A-C58C48F08C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CF44E4-4493-67BD-A6C8-EAB9B0DFFEF4}"/>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1737963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1A7DAE-5367-4534-7DC7-A1C1523C94D4}"/>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3" name="Footer Placeholder 2">
            <a:extLst>
              <a:ext uri="{FF2B5EF4-FFF2-40B4-BE49-F238E27FC236}">
                <a16:creationId xmlns:a16="http://schemas.microsoft.com/office/drawing/2014/main" id="{9118B9BA-9BEF-376D-3012-2C059A25C2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4DC996-335A-C135-A37A-1DA0A7786FC0}"/>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3429721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BBBA7-1ED2-CB6A-EC0B-F7E9FF6EF9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04CB9A-ADCE-F58B-3229-991A0FF962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1F05FF-45CB-D6C9-7366-0C68DAAE66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A0D87-3144-001C-8115-33448BA95E60}"/>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6" name="Footer Placeholder 5">
            <a:extLst>
              <a:ext uri="{FF2B5EF4-FFF2-40B4-BE49-F238E27FC236}">
                <a16:creationId xmlns:a16="http://schemas.microsoft.com/office/drawing/2014/main" id="{CC8157EC-BAC4-4801-1E6D-EA13335C31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48D0B8-FFF7-3A16-715A-B3D7EB2C061E}"/>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1940947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E1164-DD9E-2597-5C16-1DD278EC56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4B5D04-E1A8-5E2D-15AB-19474B1EE8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53706DE-4A0B-CC58-9B6C-0448DE99D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A8BB1E-7C08-FFEB-ABC0-5EBDC8AB3870}"/>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6" name="Footer Placeholder 5">
            <a:extLst>
              <a:ext uri="{FF2B5EF4-FFF2-40B4-BE49-F238E27FC236}">
                <a16:creationId xmlns:a16="http://schemas.microsoft.com/office/drawing/2014/main" id="{FBF946DA-C809-86B4-ADA3-127BC7511E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98D65E-E802-8A92-1520-4812204A830F}"/>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3762076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66727-551B-55B4-13EF-58483DFA20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BE2268-BF07-466C-6C99-CC812A8DD5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9578C-53F4-550E-B4EE-7DFCE2CFB0F8}"/>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5" name="Footer Placeholder 4">
            <a:extLst>
              <a:ext uri="{FF2B5EF4-FFF2-40B4-BE49-F238E27FC236}">
                <a16:creationId xmlns:a16="http://schemas.microsoft.com/office/drawing/2014/main" id="{E46F2B4A-9EE4-58E8-D9E5-C5161C2E0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2F9167-DD30-CB4E-FFBF-6821C90AD501}"/>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678578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D4F92-D601-F2AB-5B9A-29DCA73A0B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BF85A9-D9E8-E73E-BEED-006A39891F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90C05-278B-662D-0213-230639F87ADB}"/>
              </a:ext>
            </a:extLst>
          </p:cNvPr>
          <p:cNvSpPr>
            <a:spLocks noGrp="1"/>
          </p:cNvSpPr>
          <p:nvPr>
            <p:ph type="dt" sz="half" idx="10"/>
          </p:nvPr>
        </p:nvSpPr>
        <p:spPr/>
        <p:txBody>
          <a:bodyPr/>
          <a:lstStyle/>
          <a:p>
            <a:fld id="{102A4B74-FCFE-442D-BA7E-8463C04DD41B}" type="datetimeFigureOut">
              <a:rPr lang="en-US" smtClean="0"/>
              <a:t>1/20/2026</a:t>
            </a:fld>
            <a:endParaRPr lang="en-US"/>
          </a:p>
        </p:txBody>
      </p:sp>
      <p:sp>
        <p:nvSpPr>
          <p:cNvPr id="5" name="Footer Placeholder 4">
            <a:extLst>
              <a:ext uri="{FF2B5EF4-FFF2-40B4-BE49-F238E27FC236}">
                <a16:creationId xmlns:a16="http://schemas.microsoft.com/office/drawing/2014/main" id="{295C05F2-75B7-7E4F-068F-C5092ADB8B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ED7E2-CE82-3488-8FEA-50FDBB6C8FB6}"/>
              </a:ext>
            </a:extLst>
          </p:cNvPr>
          <p:cNvSpPr>
            <a:spLocks noGrp="1"/>
          </p:cNvSpPr>
          <p:nvPr>
            <p:ph type="sldNum" sz="quarter" idx="12"/>
          </p:nvPr>
        </p:nvSpPr>
        <p:spPr/>
        <p:txBody>
          <a:bodyPr/>
          <a:lstStyle/>
          <a:p>
            <a:fld id="{73E772B6-6BCD-450A-A1DA-A12D46233C2F}" type="slidenum">
              <a:rPr lang="en-US" smtClean="0"/>
              <a:t>‹#›</a:t>
            </a:fld>
            <a:endParaRPr lang="en-US"/>
          </a:p>
        </p:txBody>
      </p:sp>
    </p:spTree>
    <p:extLst>
      <p:ext uri="{BB962C8B-B14F-4D97-AF65-F5344CB8AC3E}">
        <p14:creationId xmlns:p14="http://schemas.microsoft.com/office/powerpoint/2010/main" val="2384089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3701D-E7C4-EA24-A955-B41B713575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D03527-BE89-0C3C-0B17-B8C0AE177A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72FF34-06E5-5659-4849-94D77F6C8E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2A4B74-FCFE-442D-BA7E-8463C04DD41B}" type="datetimeFigureOut">
              <a:rPr lang="en-US" smtClean="0"/>
              <a:t>1/20/2026</a:t>
            </a:fld>
            <a:endParaRPr lang="en-US"/>
          </a:p>
        </p:txBody>
      </p:sp>
      <p:sp>
        <p:nvSpPr>
          <p:cNvPr id="5" name="Footer Placeholder 4">
            <a:extLst>
              <a:ext uri="{FF2B5EF4-FFF2-40B4-BE49-F238E27FC236}">
                <a16:creationId xmlns:a16="http://schemas.microsoft.com/office/drawing/2014/main" id="{B53A6753-7ABF-703B-1D10-9B2885471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59BBA8-63F1-B161-EDBD-30093FFFCB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3E772B6-6BCD-450A-A1DA-A12D46233C2F}" type="slidenum">
              <a:rPr lang="en-US" smtClean="0"/>
              <a:t>‹#›</a:t>
            </a:fld>
            <a:endParaRPr lang="en-US"/>
          </a:p>
        </p:txBody>
      </p:sp>
    </p:spTree>
    <p:extLst>
      <p:ext uri="{BB962C8B-B14F-4D97-AF65-F5344CB8AC3E}">
        <p14:creationId xmlns:p14="http://schemas.microsoft.com/office/powerpoint/2010/main" val="3010901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ED3D5E-7F7A-BEEE-891B-C5E9B8BB4D9A}"/>
              </a:ext>
            </a:extLst>
          </p:cNvPr>
          <p:cNvPicPr>
            <a:picLocks noChangeAspect="1"/>
          </p:cNvPicPr>
          <p:nvPr/>
        </p:nvPicPr>
        <p:blipFill>
          <a:blip r:embed="rId2"/>
          <a:stretch>
            <a:fillRect/>
          </a:stretch>
        </p:blipFill>
        <p:spPr>
          <a:xfrm>
            <a:off x="0" y="47433"/>
            <a:ext cx="12192000" cy="6763133"/>
          </a:xfrm>
          <a:prstGeom prst="rect">
            <a:avLst/>
          </a:prstGeom>
        </p:spPr>
      </p:pic>
    </p:spTree>
    <p:extLst>
      <p:ext uri="{BB962C8B-B14F-4D97-AF65-F5344CB8AC3E}">
        <p14:creationId xmlns:p14="http://schemas.microsoft.com/office/powerpoint/2010/main" val="2341468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23BCEF-5D05-A5E2-DA55-F58AC0ADC487}"/>
              </a:ext>
            </a:extLst>
          </p:cNvPr>
          <p:cNvPicPr>
            <a:picLocks noChangeAspect="1"/>
          </p:cNvPicPr>
          <p:nvPr/>
        </p:nvPicPr>
        <p:blipFill>
          <a:blip r:embed="rId2"/>
          <a:stretch>
            <a:fillRect/>
          </a:stretch>
        </p:blipFill>
        <p:spPr>
          <a:xfrm>
            <a:off x="6347913" y="670922"/>
            <a:ext cx="5768098" cy="4929102"/>
          </a:xfrm>
          <a:prstGeom prst="rect">
            <a:avLst/>
          </a:prstGeom>
        </p:spPr>
      </p:pic>
      <p:sp>
        <p:nvSpPr>
          <p:cNvPr id="5" name="TextBox 4">
            <a:extLst>
              <a:ext uri="{FF2B5EF4-FFF2-40B4-BE49-F238E27FC236}">
                <a16:creationId xmlns:a16="http://schemas.microsoft.com/office/drawing/2014/main" id="{D5EE0CF2-475C-A6DA-61F4-12A4E4DA6EF9}"/>
              </a:ext>
            </a:extLst>
          </p:cNvPr>
          <p:cNvSpPr txBox="1"/>
          <p:nvPr/>
        </p:nvSpPr>
        <p:spPr>
          <a:xfrm>
            <a:off x="75989" y="71812"/>
            <a:ext cx="6095098" cy="646331"/>
          </a:xfrm>
          <a:prstGeom prst="rect">
            <a:avLst/>
          </a:prstGeom>
          <a:noFill/>
        </p:spPr>
        <p:txBody>
          <a:bodyPr wrap="square">
            <a:spAutoFit/>
          </a:bodyPr>
          <a:lstStyle/>
          <a:p>
            <a:r>
              <a:rPr lang="en-US" dirty="0"/>
              <a:t> </a:t>
            </a:r>
            <a:r>
              <a:rPr lang="en-US" dirty="0" err="1"/>
              <a:t>i</a:t>
            </a:r>
            <a:r>
              <a:rPr lang="en-US" dirty="0"/>
              <a:t>. Sketch and describe a ship’s indirect refrigeration system arranged for cooling containers showed in stacks in the hold</a:t>
            </a:r>
          </a:p>
        </p:txBody>
      </p:sp>
      <p:pic>
        <p:nvPicPr>
          <p:cNvPr id="7" name="Picture 6">
            <a:extLst>
              <a:ext uri="{FF2B5EF4-FFF2-40B4-BE49-F238E27FC236}">
                <a16:creationId xmlns:a16="http://schemas.microsoft.com/office/drawing/2014/main" id="{662E4D1C-E23C-2717-185C-2CF5CC5F072A}"/>
              </a:ext>
            </a:extLst>
          </p:cNvPr>
          <p:cNvPicPr>
            <a:picLocks noChangeAspect="1"/>
          </p:cNvPicPr>
          <p:nvPr/>
        </p:nvPicPr>
        <p:blipFill>
          <a:blip r:embed="rId3"/>
          <a:stretch>
            <a:fillRect/>
          </a:stretch>
        </p:blipFill>
        <p:spPr>
          <a:xfrm>
            <a:off x="0" y="1115240"/>
            <a:ext cx="5724493" cy="1027597"/>
          </a:xfrm>
          <a:prstGeom prst="rect">
            <a:avLst/>
          </a:prstGeom>
        </p:spPr>
      </p:pic>
      <p:pic>
        <p:nvPicPr>
          <p:cNvPr id="10" name="Picture 9">
            <a:extLst>
              <a:ext uri="{FF2B5EF4-FFF2-40B4-BE49-F238E27FC236}">
                <a16:creationId xmlns:a16="http://schemas.microsoft.com/office/drawing/2014/main" id="{C1976CB7-6BFC-D06C-0851-33A081334E44}"/>
              </a:ext>
            </a:extLst>
          </p:cNvPr>
          <p:cNvPicPr>
            <a:picLocks noChangeAspect="1"/>
          </p:cNvPicPr>
          <p:nvPr/>
        </p:nvPicPr>
        <p:blipFill>
          <a:blip r:embed="rId4"/>
          <a:stretch>
            <a:fillRect/>
          </a:stretch>
        </p:blipFill>
        <p:spPr>
          <a:xfrm>
            <a:off x="0" y="2034553"/>
            <a:ext cx="5808210" cy="2459242"/>
          </a:xfrm>
          <a:prstGeom prst="rect">
            <a:avLst/>
          </a:prstGeom>
        </p:spPr>
      </p:pic>
    </p:spTree>
    <p:extLst>
      <p:ext uri="{BB962C8B-B14F-4D97-AF65-F5344CB8AC3E}">
        <p14:creationId xmlns:p14="http://schemas.microsoft.com/office/powerpoint/2010/main" val="3854183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35CD61-3DBB-B037-C381-40420A9BC479}"/>
              </a:ext>
            </a:extLst>
          </p:cNvPr>
          <p:cNvPicPr>
            <a:picLocks noChangeAspect="1"/>
          </p:cNvPicPr>
          <p:nvPr/>
        </p:nvPicPr>
        <p:blipFill>
          <a:blip r:embed="rId2"/>
          <a:srcRect l="994" t="64123"/>
          <a:stretch>
            <a:fillRect/>
          </a:stretch>
        </p:blipFill>
        <p:spPr>
          <a:xfrm>
            <a:off x="168443" y="2009273"/>
            <a:ext cx="11644376" cy="3434738"/>
          </a:xfrm>
          <a:prstGeom prst="rect">
            <a:avLst/>
          </a:prstGeom>
        </p:spPr>
      </p:pic>
    </p:spTree>
    <p:extLst>
      <p:ext uri="{BB962C8B-B14F-4D97-AF65-F5344CB8AC3E}">
        <p14:creationId xmlns:p14="http://schemas.microsoft.com/office/powerpoint/2010/main" val="29877002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BA50AE-7D36-6A59-2686-3DD3B30AE1CE}"/>
              </a:ext>
            </a:extLst>
          </p:cNvPr>
          <p:cNvSpPr txBox="1"/>
          <p:nvPr/>
        </p:nvSpPr>
        <p:spPr>
          <a:xfrm>
            <a:off x="0" y="138489"/>
            <a:ext cx="11287693" cy="6463308"/>
          </a:xfrm>
          <a:prstGeom prst="rect">
            <a:avLst/>
          </a:prstGeom>
          <a:noFill/>
        </p:spPr>
        <p:txBody>
          <a:bodyPr wrap="square">
            <a:spAutoFit/>
          </a:bodyPr>
          <a:lstStyle/>
          <a:p>
            <a:r>
              <a:rPr lang="en-US" dirty="0"/>
              <a:t>ii. Advantages Over Self-Contained (Integral) Units</a:t>
            </a:r>
          </a:p>
          <a:p>
            <a:r>
              <a:rPr lang="en-US" dirty="0"/>
              <a:t>Compared to "integral" containers (those with their own built-in refrigeration units), the centralized indirect system offers several operational benefits: </a:t>
            </a:r>
          </a:p>
          <a:p>
            <a:endParaRPr lang="en-US" dirty="0"/>
          </a:p>
          <a:p>
            <a:r>
              <a:rPr lang="en-US" dirty="0"/>
              <a:t>Higher Energy Efficiency: Large centralized plants are significantly more efficient than dozens of small, individual compressors. A centralized system may consume approximately 2.5 kW per TEU, whereas an integral container below deck can require between 3.6 kW and 5.0 kW per TEU due to additional ventilation needs.</a:t>
            </a:r>
          </a:p>
          <a:p>
            <a:endParaRPr lang="en-US" dirty="0"/>
          </a:p>
          <a:p>
            <a:r>
              <a:rPr lang="en-US" dirty="0"/>
              <a:t>Reduced Heat in Cargo Holds: Self-contained units release heat directly into the hold air. To prevent overheating, the ship must run massive ventilation fans. The indirect system transfers heat to the brine and then to sea water via the condenser, keeping the hold environment much cooler.</a:t>
            </a:r>
          </a:p>
          <a:p>
            <a:endParaRPr lang="en-US" dirty="0"/>
          </a:p>
          <a:p>
            <a:r>
              <a:rPr lang="en-US" dirty="0"/>
              <a:t>Simplified Maintenance: Maintenance is focused on one central plant in the engine room rather than dozens of separate units scattered across the hold. This reduces the need for specialized technicians to access cramped cargo spaces during the voyage.</a:t>
            </a:r>
          </a:p>
          <a:p>
            <a:endParaRPr lang="en-US" dirty="0"/>
          </a:p>
          <a:p>
            <a:r>
              <a:rPr lang="en-US" dirty="0"/>
              <a:t>Leakage Risk Mitigation: By using a secondary fluid like brine, the primary refrigerant is confined to the engine room. This minimizes the risk of toxic or flammable refrigerant leaks in the cargo holds or among personnel.</a:t>
            </a:r>
          </a:p>
          <a:p>
            <a:r>
              <a:rPr lang="en-US" dirty="0"/>
              <a:t>Centralized Monitoring: Temperatures for an entire stack can be monitored and controlled from a single point, allowing for easier adjustment and better cargo safety.</a:t>
            </a:r>
          </a:p>
          <a:p>
            <a:endParaRPr lang="en-US" dirty="0"/>
          </a:p>
          <a:p>
            <a:r>
              <a:rPr lang="en-US" dirty="0"/>
              <a:t>Increased Cargo Capacity: Porthole containers often provide more internal storage space because they lack the bulky internal refrigeration machinery found in self-contained units</a:t>
            </a:r>
          </a:p>
        </p:txBody>
      </p:sp>
    </p:spTree>
    <p:extLst>
      <p:ext uri="{BB962C8B-B14F-4D97-AF65-F5344CB8AC3E}">
        <p14:creationId xmlns:p14="http://schemas.microsoft.com/office/powerpoint/2010/main" val="3262732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291</Words>
  <Application>Microsoft Office PowerPoint</Application>
  <PresentationFormat>Widescreen</PresentationFormat>
  <Paragraphs>15</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Engineering Unlimited</dc:creator>
  <cp:lastModifiedBy>Engineering Unlimited</cp:lastModifiedBy>
  <cp:revision>1</cp:revision>
  <dcterms:created xsi:type="dcterms:W3CDTF">2026-01-20T09:17:07Z</dcterms:created>
  <dcterms:modified xsi:type="dcterms:W3CDTF">2026-01-20T09:36:52Z</dcterms:modified>
</cp:coreProperties>
</file>