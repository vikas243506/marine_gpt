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50" d="100"/>
          <a:sy n="50" d="100"/>
        </p:scale>
        <p:origin x="922"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jid Anjum" userId="a748214134888042" providerId="LiveId" clId="{7C808F7D-2885-4FE2-A83E-9B5D0445EFE0}"/>
    <pc:docChg chg="modSld">
      <pc:chgData name="Tamjid Anjum" userId="a748214134888042" providerId="LiveId" clId="{7C808F7D-2885-4FE2-A83E-9B5D0445EFE0}" dt="2024-06-20T18:05:45.159" v="6" actId="20577"/>
      <pc:docMkLst>
        <pc:docMk/>
      </pc:docMkLst>
      <pc:sldChg chg="modSp mod">
        <pc:chgData name="Tamjid Anjum" userId="a748214134888042" providerId="LiveId" clId="{7C808F7D-2885-4FE2-A83E-9B5D0445EFE0}" dt="2024-06-20T18:05:45.159" v="6" actId="20577"/>
        <pc:sldMkLst>
          <pc:docMk/>
          <pc:sldMk cId="4277828388" sldId="256"/>
        </pc:sldMkLst>
        <pc:spChg chg="mod">
          <ac:chgData name="Tamjid Anjum" userId="a748214134888042" providerId="LiveId" clId="{7C808F7D-2885-4FE2-A83E-9B5D0445EFE0}" dt="2024-06-20T18:05:45.159" v="6" actId="20577"/>
          <ac:spMkLst>
            <pc:docMk/>
            <pc:sldMk cId="4277828388" sldId="256"/>
            <ac:spMk id="2" creationId="{894700E5-8D66-CD98-BE0C-132245E1487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1C851-CCDA-09E2-B8D6-B6BAF44D66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CD8CD1D-75B2-8A97-DD28-0F83B2F3C9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22177B3-3C94-DAA3-66BA-27C10E128D43}"/>
              </a:ext>
            </a:extLst>
          </p:cNvPr>
          <p:cNvSpPr>
            <a:spLocks noGrp="1"/>
          </p:cNvSpPr>
          <p:nvPr>
            <p:ph type="dt" sz="half" idx="10"/>
          </p:nvPr>
        </p:nvSpPr>
        <p:spPr/>
        <p:txBody>
          <a:bodyPr/>
          <a:lstStyle/>
          <a:p>
            <a:fld id="{155ECBCC-13B4-4A68-BDCF-D369AE204364}" type="datetimeFigureOut">
              <a:rPr lang="en-IN" smtClean="0"/>
              <a:t>20-06-2024</a:t>
            </a:fld>
            <a:endParaRPr lang="en-IN"/>
          </a:p>
        </p:txBody>
      </p:sp>
      <p:sp>
        <p:nvSpPr>
          <p:cNvPr id="5" name="Footer Placeholder 4">
            <a:extLst>
              <a:ext uri="{FF2B5EF4-FFF2-40B4-BE49-F238E27FC236}">
                <a16:creationId xmlns:a16="http://schemas.microsoft.com/office/drawing/2014/main" id="{BB3CA362-5E52-8F50-8F7D-97C1F7FE45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3FC03F-3854-762F-8437-8908CEE9A1EB}"/>
              </a:ext>
            </a:extLst>
          </p:cNvPr>
          <p:cNvSpPr>
            <a:spLocks noGrp="1"/>
          </p:cNvSpPr>
          <p:nvPr>
            <p:ph type="sldNum" sz="quarter" idx="12"/>
          </p:nvPr>
        </p:nvSpPr>
        <p:spPr/>
        <p:txBody>
          <a:bodyPr/>
          <a:lstStyle/>
          <a:p>
            <a:fld id="{B23B3F2D-9179-4EFA-A736-ECBA3ADEC6A9}" type="slidenum">
              <a:rPr lang="en-IN" smtClean="0"/>
              <a:t>‹#›</a:t>
            </a:fld>
            <a:endParaRPr lang="en-IN"/>
          </a:p>
        </p:txBody>
      </p:sp>
    </p:spTree>
    <p:extLst>
      <p:ext uri="{BB962C8B-B14F-4D97-AF65-F5344CB8AC3E}">
        <p14:creationId xmlns:p14="http://schemas.microsoft.com/office/powerpoint/2010/main" val="1755567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B6950-4DC5-AE04-BE8E-5F653647D4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468232-C479-D23D-7055-102B4737CF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33390F-A402-68E8-5AF4-C0A646E571E7}"/>
              </a:ext>
            </a:extLst>
          </p:cNvPr>
          <p:cNvSpPr>
            <a:spLocks noGrp="1"/>
          </p:cNvSpPr>
          <p:nvPr>
            <p:ph type="dt" sz="half" idx="10"/>
          </p:nvPr>
        </p:nvSpPr>
        <p:spPr/>
        <p:txBody>
          <a:bodyPr/>
          <a:lstStyle/>
          <a:p>
            <a:fld id="{155ECBCC-13B4-4A68-BDCF-D369AE204364}" type="datetimeFigureOut">
              <a:rPr lang="en-IN" smtClean="0"/>
              <a:t>20-06-2024</a:t>
            </a:fld>
            <a:endParaRPr lang="en-IN"/>
          </a:p>
        </p:txBody>
      </p:sp>
      <p:sp>
        <p:nvSpPr>
          <p:cNvPr id="5" name="Footer Placeholder 4">
            <a:extLst>
              <a:ext uri="{FF2B5EF4-FFF2-40B4-BE49-F238E27FC236}">
                <a16:creationId xmlns:a16="http://schemas.microsoft.com/office/drawing/2014/main" id="{BE37681B-2EB2-9E32-9BA3-34C48C4EEC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3D5940-777F-E218-0327-02E73D76B485}"/>
              </a:ext>
            </a:extLst>
          </p:cNvPr>
          <p:cNvSpPr>
            <a:spLocks noGrp="1"/>
          </p:cNvSpPr>
          <p:nvPr>
            <p:ph type="sldNum" sz="quarter" idx="12"/>
          </p:nvPr>
        </p:nvSpPr>
        <p:spPr/>
        <p:txBody>
          <a:bodyPr/>
          <a:lstStyle/>
          <a:p>
            <a:fld id="{B23B3F2D-9179-4EFA-A736-ECBA3ADEC6A9}" type="slidenum">
              <a:rPr lang="en-IN" smtClean="0"/>
              <a:t>‹#›</a:t>
            </a:fld>
            <a:endParaRPr lang="en-IN"/>
          </a:p>
        </p:txBody>
      </p:sp>
    </p:spTree>
    <p:extLst>
      <p:ext uri="{BB962C8B-B14F-4D97-AF65-F5344CB8AC3E}">
        <p14:creationId xmlns:p14="http://schemas.microsoft.com/office/powerpoint/2010/main" val="2724353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36413-9172-60DC-A24C-96DC7CC62B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D35E117-ECFD-69B6-CA7F-D7708DE38B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E4FB45-4226-4D47-4644-0158621EEFAC}"/>
              </a:ext>
            </a:extLst>
          </p:cNvPr>
          <p:cNvSpPr>
            <a:spLocks noGrp="1"/>
          </p:cNvSpPr>
          <p:nvPr>
            <p:ph type="dt" sz="half" idx="10"/>
          </p:nvPr>
        </p:nvSpPr>
        <p:spPr/>
        <p:txBody>
          <a:bodyPr/>
          <a:lstStyle/>
          <a:p>
            <a:fld id="{155ECBCC-13B4-4A68-BDCF-D369AE204364}" type="datetimeFigureOut">
              <a:rPr lang="en-IN" smtClean="0"/>
              <a:t>20-06-2024</a:t>
            </a:fld>
            <a:endParaRPr lang="en-IN"/>
          </a:p>
        </p:txBody>
      </p:sp>
      <p:sp>
        <p:nvSpPr>
          <p:cNvPr id="5" name="Footer Placeholder 4">
            <a:extLst>
              <a:ext uri="{FF2B5EF4-FFF2-40B4-BE49-F238E27FC236}">
                <a16:creationId xmlns:a16="http://schemas.microsoft.com/office/drawing/2014/main" id="{995F16E3-7750-0AB1-53F1-DE4D1D7191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7EE880-7149-B9A9-96B4-4E959AEA9C58}"/>
              </a:ext>
            </a:extLst>
          </p:cNvPr>
          <p:cNvSpPr>
            <a:spLocks noGrp="1"/>
          </p:cNvSpPr>
          <p:nvPr>
            <p:ph type="sldNum" sz="quarter" idx="12"/>
          </p:nvPr>
        </p:nvSpPr>
        <p:spPr/>
        <p:txBody>
          <a:bodyPr/>
          <a:lstStyle/>
          <a:p>
            <a:fld id="{B23B3F2D-9179-4EFA-A736-ECBA3ADEC6A9}" type="slidenum">
              <a:rPr lang="en-IN" smtClean="0"/>
              <a:t>‹#›</a:t>
            </a:fld>
            <a:endParaRPr lang="en-IN"/>
          </a:p>
        </p:txBody>
      </p:sp>
    </p:spTree>
    <p:extLst>
      <p:ext uri="{BB962C8B-B14F-4D97-AF65-F5344CB8AC3E}">
        <p14:creationId xmlns:p14="http://schemas.microsoft.com/office/powerpoint/2010/main" val="1215283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D6B08-F2CD-92A9-E19F-24651943D9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AC7B51-DAC3-D77F-8A42-AA9CA2352E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EBE929-A0FB-9CA8-83BF-492F348297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6B093C-79B4-CEC8-B5FB-7548AE211E7A}"/>
              </a:ext>
            </a:extLst>
          </p:cNvPr>
          <p:cNvSpPr>
            <a:spLocks noGrp="1"/>
          </p:cNvSpPr>
          <p:nvPr>
            <p:ph type="dt" sz="half" idx="10"/>
          </p:nvPr>
        </p:nvSpPr>
        <p:spPr/>
        <p:txBody>
          <a:bodyPr/>
          <a:lstStyle/>
          <a:p>
            <a:fld id="{155ECBCC-13B4-4A68-BDCF-D369AE204364}" type="datetimeFigureOut">
              <a:rPr lang="en-IN" smtClean="0"/>
              <a:t>20-06-2024</a:t>
            </a:fld>
            <a:endParaRPr lang="en-IN"/>
          </a:p>
        </p:txBody>
      </p:sp>
      <p:sp>
        <p:nvSpPr>
          <p:cNvPr id="6" name="Footer Placeholder 5">
            <a:extLst>
              <a:ext uri="{FF2B5EF4-FFF2-40B4-BE49-F238E27FC236}">
                <a16:creationId xmlns:a16="http://schemas.microsoft.com/office/drawing/2014/main" id="{DBC0BC6D-B2F8-B6AD-36C0-9A60165518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BFE068-BBDA-B763-C435-019D40683B59}"/>
              </a:ext>
            </a:extLst>
          </p:cNvPr>
          <p:cNvSpPr>
            <a:spLocks noGrp="1"/>
          </p:cNvSpPr>
          <p:nvPr>
            <p:ph type="sldNum" sz="quarter" idx="12"/>
          </p:nvPr>
        </p:nvSpPr>
        <p:spPr/>
        <p:txBody>
          <a:bodyPr/>
          <a:lstStyle/>
          <a:p>
            <a:fld id="{B23B3F2D-9179-4EFA-A736-ECBA3ADEC6A9}" type="slidenum">
              <a:rPr lang="en-IN" smtClean="0"/>
              <a:t>‹#›</a:t>
            </a:fld>
            <a:endParaRPr lang="en-IN"/>
          </a:p>
        </p:txBody>
      </p:sp>
    </p:spTree>
    <p:extLst>
      <p:ext uri="{BB962C8B-B14F-4D97-AF65-F5344CB8AC3E}">
        <p14:creationId xmlns:p14="http://schemas.microsoft.com/office/powerpoint/2010/main" val="1936406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E7B2B-6DA0-335A-93FF-EFEEA0B6D96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D0265A-EEAF-FD96-AE2E-271674B9CE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BAB6C7-7381-E949-5404-0FE8BE305F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B3A440-9A61-055D-198C-B4D31A8A52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019313-41CE-4E5C-8B67-4DD147E9FA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634FA5-214A-2A01-606F-56887E1A3F5E}"/>
              </a:ext>
            </a:extLst>
          </p:cNvPr>
          <p:cNvSpPr>
            <a:spLocks noGrp="1"/>
          </p:cNvSpPr>
          <p:nvPr>
            <p:ph type="dt" sz="half" idx="10"/>
          </p:nvPr>
        </p:nvSpPr>
        <p:spPr/>
        <p:txBody>
          <a:bodyPr/>
          <a:lstStyle/>
          <a:p>
            <a:fld id="{155ECBCC-13B4-4A68-BDCF-D369AE204364}" type="datetimeFigureOut">
              <a:rPr lang="en-IN" smtClean="0"/>
              <a:t>20-06-2024</a:t>
            </a:fld>
            <a:endParaRPr lang="en-IN"/>
          </a:p>
        </p:txBody>
      </p:sp>
      <p:sp>
        <p:nvSpPr>
          <p:cNvPr id="8" name="Footer Placeholder 7">
            <a:extLst>
              <a:ext uri="{FF2B5EF4-FFF2-40B4-BE49-F238E27FC236}">
                <a16:creationId xmlns:a16="http://schemas.microsoft.com/office/drawing/2014/main" id="{AA849817-6813-FC14-C092-7785B3C4E3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66539DE-8782-A23E-33E5-57CAC6D4CA83}"/>
              </a:ext>
            </a:extLst>
          </p:cNvPr>
          <p:cNvSpPr>
            <a:spLocks noGrp="1"/>
          </p:cNvSpPr>
          <p:nvPr>
            <p:ph type="sldNum" sz="quarter" idx="12"/>
          </p:nvPr>
        </p:nvSpPr>
        <p:spPr/>
        <p:txBody>
          <a:bodyPr/>
          <a:lstStyle/>
          <a:p>
            <a:fld id="{B23B3F2D-9179-4EFA-A736-ECBA3ADEC6A9}" type="slidenum">
              <a:rPr lang="en-IN" smtClean="0"/>
              <a:t>‹#›</a:t>
            </a:fld>
            <a:endParaRPr lang="en-IN"/>
          </a:p>
        </p:txBody>
      </p:sp>
    </p:spTree>
    <p:extLst>
      <p:ext uri="{BB962C8B-B14F-4D97-AF65-F5344CB8AC3E}">
        <p14:creationId xmlns:p14="http://schemas.microsoft.com/office/powerpoint/2010/main" val="1398576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36D80-5CF0-29A1-B236-36A91CD637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5D94D53-9C23-096D-6133-176FE723C0E1}"/>
              </a:ext>
            </a:extLst>
          </p:cNvPr>
          <p:cNvSpPr>
            <a:spLocks noGrp="1"/>
          </p:cNvSpPr>
          <p:nvPr>
            <p:ph type="dt" sz="half" idx="10"/>
          </p:nvPr>
        </p:nvSpPr>
        <p:spPr/>
        <p:txBody>
          <a:bodyPr/>
          <a:lstStyle/>
          <a:p>
            <a:fld id="{155ECBCC-13B4-4A68-BDCF-D369AE204364}" type="datetimeFigureOut">
              <a:rPr lang="en-IN" smtClean="0"/>
              <a:t>20-06-2024</a:t>
            </a:fld>
            <a:endParaRPr lang="en-IN"/>
          </a:p>
        </p:txBody>
      </p:sp>
      <p:sp>
        <p:nvSpPr>
          <p:cNvPr id="4" name="Footer Placeholder 3">
            <a:extLst>
              <a:ext uri="{FF2B5EF4-FFF2-40B4-BE49-F238E27FC236}">
                <a16:creationId xmlns:a16="http://schemas.microsoft.com/office/drawing/2014/main" id="{E6087D8A-5E90-6FC2-0005-754D5B9B1D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D80A0C0-1195-13C3-F529-5F1A3980C2BE}"/>
              </a:ext>
            </a:extLst>
          </p:cNvPr>
          <p:cNvSpPr>
            <a:spLocks noGrp="1"/>
          </p:cNvSpPr>
          <p:nvPr>
            <p:ph type="sldNum" sz="quarter" idx="12"/>
          </p:nvPr>
        </p:nvSpPr>
        <p:spPr/>
        <p:txBody>
          <a:bodyPr/>
          <a:lstStyle/>
          <a:p>
            <a:fld id="{B23B3F2D-9179-4EFA-A736-ECBA3ADEC6A9}" type="slidenum">
              <a:rPr lang="en-IN" smtClean="0"/>
              <a:t>‹#›</a:t>
            </a:fld>
            <a:endParaRPr lang="en-IN"/>
          </a:p>
        </p:txBody>
      </p:sp>
    </p:spTree>
    <p:extLst>
      <p:ext uri="{BB962C8B-B14F-4D97-AF65-F5344CB8AC3E}">
        <p14:creationId xmlns:p14="http://schemas.microsoft.com/office/powerpoint/2010/main" val="1930087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60E5BA-703A-6DDD-EDB9-92241DC85F1E}"/>
              </a:ext>
            </a:extLst>
          </p:cNvPr>
          <p:cNvSpPr>
            <a:spLocks noGrp="1"/>
          </p:cNvSpPr>
          <p:nvPr>
            <p:ph type="dt" sz="half" idx="10"/>
          </p:nvPr>
        </p:nvSpPr>
        <p:spPr/>
        <p:txBody>
          <a:bodyPr/>
          <a:lstStyle/>
          <a:p>
            <a:fld id="{155ECBCC-13B4-4A68-BDCF-D369AE204364}" type="datetimeFigureOut">
              <a:rPr lang="en-IN" smtClean="0"/>
              <a:t>20-06-2024</a:t>
            </a:fld>
            <a:endParaRPr lang="en-IN"/>
          </a:p>
        </p:txBody>
      </p:sp>
      <p:sp>
        <p:nvSpPr>
          <p:cNvPr id="3" name="Footer Placeholder 2">
            <a:extLst>
              <a:ext uri="{FF2B5EF4-FFF2-40B4-BE49-F238E27FC236}">
                <a16:creationId xmlns:a16="http://schemas.microsoft.com/office/drawing/2014/main" id="{C2AC70FB-A788-8F8C-98B8-54EEA08FF7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F5D0E42-D047-F7C6-DAF2-FD2758C9206E}"/>
              </a:ext>
            </a:extLst>
          </p:cNvPr>
          <p:cNvSpPr>
            <a:spLocks noGrp="1"/>
          </p:cNvSpPr>
          <p:nvPr>
            <p:ph type="sldNum" sz="quarter" idx="12"/>
          </p:nvPr>
        </p:nvSpPr>
        <p:spPr/>
        <p:txBody>
          <a:bodyPr/>
          <a:lstStyle/>
          <a:p>
            <a:fld id="{B23B3F2D-9179-4EFA-A736-ECBA3ADEC6A9}" type="slidenum">
              <a:rPr lang="en-IN" smtClean="0"/>
              <a:t>‹#›</a:t>
            </a:fld>
            <a:endParaRPr lang="en-IN"/>
          </a:p>
        </p:txBody>
      </p:sp>
    </p:spTree>
    <p:extLst>
      <p:ext uri="{BB962C8B-B14F-4D97-AF65-F5344CB8AC3E}">
        <p14:creationId xmlns:p14="http://schemas.microsoft.com/office/powerpoint/2010/main" val="314558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3A5F5-93E1-F744-C41C-98738F08A4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EEC8E0-4C76-0627-4C6D-E09F5EF9FB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DA5E45-9546-FD11-01DC-5E9907161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3A529E-DBAF-6C91-C200-F41FE562A3A1}"/>
              </a:ext>
            </a:extLst>
          </p:cNvPr>
          <p:cNvSpPr>
            <a:spLocks noGrp="1"/>
          </p:cNvSpPr>
          <p:nvPr>
            <p:ph type="dt" sz="half" idx="10"/>
          </p:nvPr>
        </p:nvSpPr>
        <p:spPr/>
        <p:txBody>
          <a:bodyPr/>
          <a:lstStyle/>
          <a:p>
            <a:fld id="{155ECBCC-13B4-4A68-BDCF-D369AE204364}" type="datetimeFigureOut">
              <a:rPr lang="en-IN" smtClean="0"/>
              <a:t>20-06-2024</a:t>
            </a:fld>
            <a:endParaRPr lang="en-IN"/>
          </a:p>
        </p:txBody>
      </p:sp>
      <p:sp>
        <p:nvSpPr>
          <p:cNvPr id="6" name="Footer Placeholder 5">
            <a:extLst>
              <a:ext uri="{FF2B5EF4-FFF2-40B4-BE49-F238E27FC236}">
                <a16:creationId xmlns:a16="http://schemas.microsoft.com/office/drawing/2014/main" id="{8DA9E93B-47E3-16C8-5E92-CA30D234FF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1D2E16-5764-9183-09EF-8AD712E6B3B2}"/>
              </a:ext>
            </a:extLst>
          </p:cNvPr>
          <p:cNvSpPr>
            <a:spLocks noGrp="1"/>
          </p:cNvSpPr>
          <p:nvPr>
            <p:ph type="sldNum" sz="quarter" idx="12"/>
          </p:nvPr>
        </p:nvSpPr>
        <p:spPr/>
        <p:txBody>
          <a:bodyPr/>
          <a:lstStyle/>
          <a:p>
            <a:fld id="{B23B3F2D-9179-4EFA-A736-ECBA3ADEC6A9}" type="slidenum">
              <a:rPr lang="en-IN" smtClean="0"/>
              <a:t>‹#›</a:t>
            </a:fld>
            <a:endParaRPr lang="en-IN"/>
          </a:p>
        </p:txBody>
      </p:sp>
    </p:spTree>
    <p:extLst>
      <p:ext uri="{BB962C8B-B14F-4D97-AF65-F5344CB8AC3E}">
        <p14:creationId xmlns:p14="http://schemas.microsoft.com/office/powerpoint/2010/main" val="3010181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87EF9-3D2F-E12C-462A-5D12323479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976F853-5723-9F51-DDFA-67976A8D55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3A367C-CD13-469A-A73C-132BB961E6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88B439-4910-011C-51D2-5D4F01D4EC96}"/>
              </a:ext>
            </a:extLst>
          </p:cNvPr>
          <p:cNvSpPr>
            <a:spLocks noGrp="1"/>
          </p:cNvSpPr>
          <p:nvPr>
            <p:ph type="dt" sz="half" idx="10"/>
          </p:nvPr>
        </p:nvSpPr>
        <p:spPr/>
        <p:txBody>
          <a:bodyPr/>
          <a:lstStyle/>
          <a:p>
            <a:fld id="{155ECBCC-13B4-4A68-BDCF-D369AE204364}" type="datetimeFigureOut">
              <a:rPr lang="en-IN" smtClean="0"/>
              <a:t>20-06-2024</a:t>
            </a:fld>
            <a:endParaRPr lang="en-IN"/>
          </a:p>
        </p:txBody>
      </p:sp>
      <p:sp>
        <p:nvSpPr>
          <p:cNvPr id="6" name="Footer Placeholder 5">
            <a:extLst>
              <a:ext uri="{FF2B5EF4-FFF2-40B4-BE49-F238E27FC236}">
                <a16:creationId xmlns:a16="http://schemas.microsoft.com/office/drawing/2014/main" id="{9931DE6A-2660-59B2-864F-1D2FCB376A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FAC77C-18B9-1FE0-6CC6-3C461E190A3A}"/>
              </a:ext>
            </a:extLst>
          </p:cNvPr>
          <p:cNvSpPr>
            <a:spLocks noGrp="1"/>
          </p:cNvSpPr>
          <p:nvPr>
            <p:ph type="sldNum" sz="quarter" idx="12"/>
          </p:nvPr>
        </p:nvSpPr>
        <p:spPr/>
        <p:txBody>
          <a:bodyPr/>
          <a:lstStyle/>
          <a:p>
            <a:fld id="{B23B3F2D-9179-4EFA-A736-ECBA3ADEC6A9}" type="slidenum">
              <a:rPr lang="en-IN" smtClean="0"/>
              <a:t>‹#›</a:t>
            </a:fld>
            <a:endParaRPr lang="en-IN"/>
          </a:p>
        </p:txBody>
      </p:sp>
    </p:spTree>
    <p:extLst>
      <p:ext uri="{BB962C8B-B14F-4D97-AF65-F5344CB8AC3E}">
        <p14:creationId xmlns:p14="http://schemas.microsoft.com/office/powerpoint/2010/main" val="3225482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442A-4E70-485E-B7E8-A5B6D70296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34DCDA-0170-93EE-DFA3-E90F34B016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18CD55-3121-58F6-E323-434DC058C68A}"/>
              </a:ext>
            </a:extLst>
          </p:cNvPr>
          <p:cNvSpPr>
            <a:spLocks noGrp="1"/>
          </p:cNvSpPr>
          <p:nvPr>
            <p:ph type="dt" sz="half" idx="10"/>
          </p:nvPr>
        </p:nvSpPr>
        <p:spPr/>
        <p:txBody>
          <a:bodyPr/>
          <a:lstStyle/>
          <a:p>
            <a:fld id="{155ECBCC-13B4-4A68-BDCF-D369AE204364}" type="datetimeFigureOut">
              <a:rPr lang="en-IN" smtClean="0"/>
              <a:t>20-06-2024</a:t>
            </a:fld>
            <a:endParaRPr lang="en-IN"/>
          </a:p>
        </p:txBody>
      </p:sp>
      <p:sp>
        <p:nvSpPr>
          <p:cNvPr id="5" name="Footer Placeholder 4">
            <a:extLst>
              <a:ext uri="{FF2B5EF4-FFF2-40B4-BE49-F238E27FC236}">
                <a16:creationId xmlns:a16="http://schemas.microsoft.com/office/drawing/2014/main" id="{ED01A471-54A4-BF92-D182-547F9E6139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24F354-E47F-8020-E01F-65FF4929E590}"/>
              </a:ext>
            </a:extLst>
          </p:cNvPr>
          <p:cNvSpPr>
            <a:spLocks noGrp="1"/>
          </p:cNvSpPr>
          <p:nvPr>
            <p:ph type="sldNum" sz="quarter" idx="12"/>
          </p:nvPr>
        </p:nvSpPr>
        <p:spPr/>
        <p:txBody>
          <a:bodyPr/>
          <a:lstStyle/>
          <a:p>
            <a:fld id="{B23B3F2D-9179-4EFA-A736-ECBA3ADEC6A9}" type="slidenum">
              <a:rPr lang="en-IN" smtClean="0"/>
              <a:t>‹#›</a:t>
            </a:fld>
            <a:endParaRPr lang="en-IN"/>
          </a:p>
        </p:txBody>
      </p:sp>
    </p:spTree>
    <p:extLst>
      <p:ext uri="{BB962C8B-B14F-4D97-AF65-F5344CB8AC3E}">
        <p14:creationId xmlns:p14="http://schemas.microsoft.com/office/powerpoint/2010/main" val="2434213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6D4E77-3D7D-F4E2-853C-AE3CDDA18A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58EF8F-AC34-56BA-167D-4C98C53128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F0A2F6-4CAE-879D-2054-FD2F0F4E4436}"/>
              </a:ext>
            </a:extLst>
          </p:cNvPr>
          <p:cNvSpPr>
            <a:spLocks noGrp="1"/>
          </p:cNvSpPr>
          <p:nvPr>
            <p:ph type="dt" sz="half" idx="10"/>
          </p:nvPr>
        </p:nvSpPr>
        <p:spPr/>
        <p:txBody>
          <a:bodyPr/>
          <a:lstStyle/>
          <a:p>
            <a:fld id="{155ECBCC-13B4-4A68-BDCF-D369AE204364}" type="datetimeFigureOut">
              <a:rPr lang="en-IN" smtClean="0"/>
              <a:t>20-06-2024</a:t>
            </a:fld>
            <a:endParaRPr lang="en-IN"/>
          </a:p>
        </p:txBody>
      </p:sp>
      <p:sp>
        <p:nvSpPr>
          <p:cNvPr id="5" name="Footer Placeholder 4">
            <a:extLst>
              <a:ext uri="{FF2B5EF4-FFF2-40B4-BE49-F238E27FC236}">
                <a16:creationId xmlns:a16="http://schemas.microsoft.com/office/drawing/2014/main" id="{527C9DAC-E7E2-ABEB-4078-9272E4247C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45A42A-F23F-7364-F870-0B0B5143EE61}"/>
              </a:ext>
            </a:extLst>
          </p:cNvPr>
          <p:cNvSpPr>
            <a:spLocks noGrp="1"/>
          </p:cNvSpPr>
          <p:nvPr>
            <p:ph type="sldNum" sz="quarter" idx="12"/>
          </p:nvPr>
        </p:nvSpPr>
        <p:spPr/>
        <p:txBody>
          <a:bodyPr/>
          <a:lstStyle/>
          <a:p>
            <a:fld id="{B23B3F2D-9179-4EFA-A736-ECBA3ADEC6A9}" type="slidenum">
              <a:rPr lang="en-IN" smtClean="0"/>
              <a:t>‹#›</a:t>
            </a:fld>
            <a:endParaRPr lang="en-IN"/>
          </a:p>
        </p:txBody>
      </p:sp>
    </p:spTree>
    <p:extLst>
      <p:ext uri="{BB962C8B-B14F-4D97-AF65-F5344CB8AC3E}">
        <p14:creationId xmlns:p14="http://schemas.microsoft.com/office/powerpoint/2010/main" val="1905590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34DD0C-4381-EF1A-2627-CA907EC4CB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B4530D-6AFB-9D32-5013-3C8660BB7F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8F4D4D-B281-0FB1-1AAB-3AE24565F8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ECBCC-13B4-4A68-BDCF-D369AE204364}" type="datetimeFigureOut">
              <a:rPr lang="en-IN" smtClean="0"/>
              <a:t>20-06-2024</a:t>
            </a:fld>
            <a:endParaRPr lang="en-IN"/>
          </a:p>
        </p:txBody>
      </p:sp>
      <p:sp>
        <p:nvSpPr>
          <p:cNvPr id="5" name="Footer Placeholder 4">
            <a:extLst>
              <a:ext uri="{FF2B5EF4-FFF2-40B4-BE49-F238E27FC236}">
                <a16:creationId xmlns:a16="http://schemas.microsoft.com/office/drawing/2014/main" id="{B0E65782-87A6-1D26-71D2-DBBCA411C6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AAC2C04-A5E1-1FCF-679B-1A6F2C5E33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3B3F2D-9179-4EFA-A736-ECBA3ADEC6A9}" type="slidenum">
              <a:rPr lang="en-IN" smtClean="0"/>
              <a:t>‹#›</a:t>
            </a:fld>
            <a:endParaRPr lang="en-IN"/>
          </a:p>
        </p:txBody>
      </p:sp>
    </p:spTree>
    <p:extLst>
      <p:ext uri="{BB962C8B-B14F-4D97-AF65-F5344CB8AC3E}">
        <p14:creationId xmlns:p14="http://schemas.microsoft.com/office/powerpoint/2010/main" val="1872813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700E5-8D66-CD98-BE0C-132245E14875}"/>
              </a:ext>
            </a:extLst>
          </p:cNvPr>
          <p:cNvSpPr>
            <a:spLocks noGrp="1"/>
          </p:cNvSpPr>
          <p:nvPr>
            <p:ph type="ctrTitle"/>
          </p:nvPr>
        </p:nvSpPr>
        <p:spPr>
          <a:xfrm>
            <a:off x="1325880" y="1884363"/>
            <a:ext cx="9144000" cy="2387600"/>
          </a:xfrm>
        </p:spPr>
        <p:txBody>
          <a:bodyPr/>
          <a:lstStyle/>
          <a:p>
            <a:r>
              <a:rPr lang="en-IN">
                <a:solidFill>
                  <a:srgbClr val="FF0000"/>
                </a:solidFill>
              </a:rPr>
              <a:t>MAIN ENGINE </a:t>
            </a:r>
            <a:r>
              <a:rPr lang="en-IN" dirty="0">
                <a:solidFill>
                  <a:srgbClr val="FF0000"/>
                </a:solidFill>
              </a:rPr>
              <a:t>EXHAUST VALVE OVERHAUL</a:t>
            </a:r>
          </a:p>
        </p:txBody>
      </p:sp>
    </p:spTree>
    <p:extLst>
      <p:ext uri="{BB962C8B-B14F-4D97-AF65-F5344CB8AC3E}">
        <p14:creationId xmlns:p14="http://schemas.microsoft.com/office/powerpoint/2010/main" val="427782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66836C-34B8-4A03-2A69-8C862AA724EE}"/>
              </a:ext>
            </a:extLst>
          </p:cNvPr>
          <p:cNvSpPr>
            <a:spLocks noGrp="1"/>
          </p:cNvSpPr>
          <p:nvPr>
            <p:ph idx="1"/>
          </p:nvPr>
        </p:nvSpPr>
        <p:spPr>
          <a:xfrm>
            <a:off x="533400" y="457200"/>
            <a:ext cx="11216640" cy="6019800"/>
          </a:xfrm>
        </p:spPr>
        <p:txBody>
          <a:bodyPr>
            <a:normAutofit fontScale="92500" lnSpcReduction="10000"/>
          </a:bodyPr>
          <a:lstStyle/>
          <a:p>
            <a:pPr marL="0" indent="0">
              <a:lnSpc>
                <a:spcPct val="107000"/>
              </a:lnSpc>
              <a:spcAft>
                <a:spcPts val="800"/>
              </a:spcAft>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1. PROBLEMS IN EXHAUST VALVE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l">
              <a:lnSpc>
                <a:spcPct val="107000"/>
              </a:lnSpc>
              <a:spcAft>
                <a:spcPts val="800"/>
              </a:spcAft>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1.1. COMMON PLOBLEMS</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High temperature corrosion of complete valve and valve seat.</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Reduction in the valve lift.</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Failure of spring.</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Erosion of valve and valve seat.</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150795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DF09CB-DBC1-F5F7-0223-ED71A3977398}"/>
              </a:ext>
            </a:extLst>
          </p:cNvPr>
          <p:cNvSpPr>
            <a:spLocks noGrp="1"/>
          </p:cNvSpPr>
          <p:nvPr>
            <p:ph idx="1"/>
          </p:nvPr>
        </p:nvSpPr>
        <p:spPr>
          <a:xfrm>
            <a:off x="411480" y="274320"/>
            <a:ext cx="11323320" cy="6187440"/>
          </a:xfrm>
        </p:spPr>
        <p:txBody>
          <a:bodyPr>
            <a:normAutofit fontScale="85000" lnSpcReduction="20000"/>
          </a:bodyPr>
          <a:lstStyle/>
          <a:p>
            <a:pPr marL="0" lvl="0" indent="0">
              <a:lnSpc>
                <a:spcPct val="107000"/>
              </a:lnSpc>
              <a:buNone/>
            </a:pPr>
            <a:r>
              <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5. Bending of valve spindle.</a:t>
            </a:r>
          </a:p>
          <a:p>
            <a:pPr marL="342900" lvl="0" indent="-342900">
              <a:lnSpc>
                <a:spcPct val="107000"/>
              </a:lnSpc>
              <a:buFont typeface="+mj-lt"/>
              <a:buAutoNum type="arabicPeriod"/>
            </a:pPr>
            <a:endPar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endParaRPr>
          </a:p>
          <a:p>
            <a:pPr marL="0" lvl="0" indent="0">
              <a:lnSpc>
                <a:spcPct val="107000"/>
              </a:lnSpc>
              <a:buNone/>
            </a:pPr>
            <a:r>
              <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6. </a:t>
            </a:r>
            <a:r>
              <a:rPr lang="en-US"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Localised</a:t>
            </a:r>
            <a:r>
              <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burning of valve and valve seat.</a:t>
            </a:r>
          </a:p>
          <a:p>
            <a:pPr marL="342900" lvl="0" indent="-342900">
              <a:lnSpc>
                <a:spcPct val="107000"/>
              </a:lnSpc>
              <a:buFont typeface="+mj-lt"/>
              <a:buAutoNum type="arabicPeriod"/>
            </a:pPr>
            <a:endPar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endParaRPr>
          </a:p>
          <a:p>
            <a:pPr marL="0" lvl="0" indent="0">
              <a:lnSpc>
                <a:spcPct val="107000"/>
              </a:lnSpc>
              <a:buNone/>
            </a:pPr>
            <a:r>
              <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7. Breakage of valve rotator vanes.</a:t>
            </a:r>
          </a:p>
          <a:p>
            <a:pPr marL="342900" lvl="0" indent="-342900">
              <a:lnSpc>
                <a:spcPct val="107000"/>
              </a:lnSpc>
              <a:buFont typeface="+mj-lt"/>
              <a:buAutoNum type="arabicPeriod"/>
            </a:pPr>
            <a:endPar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endParaRPr>
          </a:p>
          <a:p>
            <a:pPr marL="0" lvl="0" indent="0">
              <a:lnSpc>
                <a:spcPct val="107000"/>
              </a:lnSpc>
              <a:buNone/>
            </a:pPr>
            <a:r>
              <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8. Carbon or molten salt deposits in the exhaust passage and valve surface.</a:t>
            </a:r>
          </a:p>
          <a:p>
            <a:pPr marL="342900" lvl="0" indent="-342900">
              <a:lnSpc>
                <a:spcPct val="107000"/>
              </a:lnSpc>
              <a:buFont typeface="+mj-lt"/>
              <a:buAutoNum type="arabicPeriod"/>
            </a:pPr>
            <a:endPar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endParaRPr>
          </a:p>
          <a:p>
            <a:pPr marL="0" lvl="0" indent="0">
              <a:lnSpc>
                <a:spcPct val="107000"/>
              </a:lnSpc>
              <a:buNone/>
            </a:pPr>
            <a:r>
              <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9. Poor cooling of valve cage.</a:t>
            </a:r>
          </a:p>
          <a:p>
            <a:pPr marL="342900" lvl="0" indent="-342900">
              <a:lnSpc>
                <a:spcPct val="107000"/>
              </a:lnSpc>
              <a:buFont typeface="+mj-lt"/>
              <a:buAutoNum type="arabicPeriod"/>
            </a:pPr>
            <a:endPar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endParaRPr>
          </a:p>
          <a:p>
            <a:pPr marL="0" lvl="0" indent="0">
              <a:lnSpc>
                <a:spcPct val="107000"/>
              </a:lnSpc>
              <a:buNone/>
            </a:pPr>
            <a:r>
              <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10. Reseating failure leading to exhaust leakage.</a:t>
            </a:r>
          </a:p>
          <a:p>
            <a:pPr marL="342900" lvl="0" indent="-342900">
              <a:lnSpc>
                <a:spcPct val="107000"/>
              </a:lnSpc>
              <a:buFont typeface="+mj-lt"/>
              <a:buAutoNum type="arabicPeriod"/>
            </a:pPr>
            <a:endPar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endParaRPr>
          </a:p>
          <a:p>
            <a:pPr marL="0" lvl="0" indent="0">
              <a:lnSpc>
                <a:spcPct val="107000"/>
              </a:lnSpc>
              <a:buNone/>
            </a:pPr>
            <a:r>
              <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11. Banging of valve while closing.</a:t>
            </a:r>
          </a:p>
          <a:p>
            <a:pPr marL="342900" lvl="0" indent="-342900">
              <a:lnSpc>
                <a:spcPct val="107000"/>
              </a:lnSpc>
              <a:buFont typeface="+mj-lt"/>
              <a:buAutoNum type="arabicPeriod"/>
            </a:pPr>
            <a:endParaRPr lang="en-US"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3836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FB0F01-9E77-636B-879D-E05D54ABBC40}"/>
              </a:ext>
            </a:extLst>
          </p:cNvPr>
          <p:cNvSpPr>
            <a:spLocks noGrp="1"/>
          </p:cNvSpPr>
          <p:nvPr>
            <p:ph idx="1"/>
          </p:nvPr>
        </p:nvSpPr>
        <p:spPr>
          <a:xfrm>
            <a:off x="365760" y="426720"/>
            <a:ext cx="11521440" cy="6431280"/>
          </a:xfrm>
        </p:spPr>
        <p:txBody>
          <a:bodyPr>
            <a:normAutofit fontScale="85000" lnSpcReduction="20000"/>
          </a:bodyPr>
          <a:lstStyle/>
          <a:p>
            <a:pPr marL="636905" indent="0">
              <a:lnSpc>
                <a:spcPct val="107000"/>
              </a:lnSpc>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1.2. KNOCKING</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One of the most common problems in exhaust valves is knocking while running. Following are some main reasons for the same –</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romanU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Deficiency in the Oil System:</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knocking can be due to problems arising in the hydraulic oil system which is responsible for the operation of the valve: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Air in oil or air being drawn at pump suction side.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Supply pressure of oil is too low.</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Oil temperature is high leading to reduction is viscosity.</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96669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0E7DB1-1315-F277-CA60-3E3E0163FD98}"/>
              </a:ext>
            </a:extLst>
          </p:cNvPr>
          <p:cNvSpPr>
            <a:spLocks noGrp="1"/>
          </p:cNvSpPr>
          <p:nvPr>
            <p:ph idx="1"/>
          </p:nvPr>
        </p:nvSpPr>
        <p:spPr>
          <a:xfrm>
            <a:off x="563880" y="502920"/>
            <a:ext cx="11292840" cy="6080760"/>
          </a:xfrm>
        </p:spPr>
        <p:txBody>
          <a:bodyPr/>
          <a:lstStyle/>
          <a:p>
            <a:pPr marL="269875" indent="0">
              <a:lnSpc>
                <a:spcPct val="107000"/>
              </a:lnSpc>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II. Deficiency in the air system:</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Incorrect Spring air supply pressure.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Defective or malfunctioning drain valve in the air chamber.</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Defective or malfunctioning of safety valve in the air chamber.</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18909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CEC2DC-8197-C8E7-5ED3-C98750E921B6}"/>
              </a:ext>
            </a:extLst>
          </p:cNvPr>
          <p:cNvSpPr>
            <a:spLocks noGrp="1"/>
          </p:cNvSpPr>
          <p:nvPr>
            <p:ph idx="1"/>
          </p:nvPr>
        </p:nvSpPr>
        <p:spPr>
          <a:xfrm>
            <a:off x="327660" y="167640"/>
            <a:ext cx="11536680" cy="6364287"/>
          </a:xfrm>
        </p:spPr>
        <p:txBody>
          <a:bodyPr>
            <a:normAutofit lnSpcReduction="10000"/>
          </a:bodyPr>
          <a:lstStyle/>
          <a:p>
            <a:pPr marL="498475" indent="0">
              <a:lnSpc>
                <a:spcPct val="107000"/>
              </a:lnSpc>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III. Leakage in height pressure oil system:</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Wrongly adjusted or defective throttle screw.</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Oil cylinder piston ring in the exhaust valve leaking.</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Oil cylinder safety valve on cam side leaking.</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High pressure pipe is damaged.</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mj-lt"/>
              <a:buAutoNum type="arabicPeriod"/>
            </a:pPr>
            <a:r>
              <a:rPr lang="en-IN" sz="28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Leakage in vent valve at the top.</a:t>
            </a:r>
            <a:br>
              <a:rPr lang="en-IN" sz="28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br>
              <a:rPr lang="en-IN" sz="28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dirty="0"/>
          </a:p>
        </p:txBody>
      </p:sp>
    </p:spTree>
    <p:extLst>
      <p:ext uri="{BB962C8B-B14F-4D97-AF65-F5344CB8AC3E}">
        <p14:creationId xmlns:p14="http://schemas.microsoft.com/office/powerpoint/2010/main" val="4209589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BE11B4-2CEB-40A4-18B3-7B5CFFEBCDD0}"/>
              </a:ext>
            </a:extLst>
          </p:cNvPr>
          <p:cNvSpPr>
            <a:spLocks noGrp="1"/>
          </p:cNvSpPr>
          <p:nvPr>
            <p:ph idx="1"/>
          </p:nvPr>
        </p:nvSpPr>
        <p:spPr>
          <a:xfrm>
            <a:off x="289560" y="121920"/>
            <a:ext cx="11795760" cy="6736080"/>
          </a:xfrm>
        </p:spPr>
        <p:txBody>
          <a:bodyPr>
            <a:normAutofit fontScale="92500" lnSpcReduction="10000"/>
          </a:bodyPr>
          <a:lstStyle/>
          <a:p>
            <a:pPr marL="0" lvl="0" indent="0">
              <a:lnSpc>
                <a:spcPct val="107000"/>
              </a:lnSpc>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2. MAIN ENGINE EXHAUST VALVE OVERHAUL PROCEDURE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To overhaul the exhaust valve place the valve on a wooden platform.</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Loosen the nuts to remove the safety strap and the oil cylinder.</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Discard the O-rings from the air cylinder.</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Remove the four screws from the flange on top of the air piston &amp; take out the flange.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endParaRPr>
          </a:p>
          <a:p>
            <a:pPr marL="342900" lvl="0" indent="-342900" algn="l">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Release the safety valve from the air cylinder for the air to escape below the piston.</a:t>
            </a:r>
          </a:p>
          <a:p>
            <a:pPr marL="342900" lvl="0" indent="-342900" algn="l">
              <a:lnSpc>
                <a:spcPct val="107000"/>
              </a:lnSpc>
              <a:buFont typeface="+mj-lt"/>
              <a:buAutoNum type="arabicPeriod"/>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Use a tin hammer to loosen the air piston from the conical locking ring &amp; remove the conical locking ring.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lvl="0" indent="-342900" algn="l">
              <a:lnSpc>
                <a:spcPct val="107000"/>
              </a:lnSpc>
              <a:buFont typeface="+mj-lt"/>
              <a:buAutoNum type="arabicPeriod"/>
            </a:pP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15901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92DBD4-A486-2419-9993-6D6B5119169F}"/>
              </a:ext>
            </a:extLst>
          </p:cNvPr>
          <p:cNvPicPr>
            <a:picLocks noChangeAspect="1"/>
          </p:cNvPicPr>
          <p:nvPr/>
        </p:nvPicPr>
        <p:blipFill>
          <a:blip r:embed="rId2"/>
          <a:stretch>
            <a:fillRect/>
          </a:stretch>
        </p:blipFill>
        <p:spPr>
          <a:xfrm>
            <a:off x="289560" y="106680"/>
            <a:ext cx="11384280" cy="6324600"/>
          </a:xfrm>
          <a:prstGeom prst="rect">
            <a:avLst/>
          </a:prstGeom>
        </p:spPr>
      </p:pic>
    </p:spTree>
    <p:extLst>
      <p:ext uri="{BB962C8B-B14F-4D97-AF65-F5344CB8AC3E}">
        <p14:creationId xmlns:p14="http://schemas.microsoft.com/office/powerpoint/2010/main" val="650258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33F51D-2B85-6BF8-ECF0-1D0C3B2D52C8}"/>
              </a:ext>
            </a:extLst>
          </p:cNvPr>
          <p:cNvSpPr>
            <a:spLocks noGrp="1"/>
          </p:cNvSpPr>
          <p:nvPr>
            <p:ph idx="1"/>
          </p:nvPr>
        </p:nvSpPr>
        <p:spPr>
          <a:xfrm>
            <a:off x="259080" y="1082040"/>
            <a:ext cx="11750040" cy="4160520"/>
          </a:xfrm>
        </p:spPr>
        <p:txBody>
          <a:bodyPr>
            <a:normAutofit/>
          </a:bodyPr>
          <a:lstStyle/>
          <a:p>
            <a:pPr marL="0" indent="0">
              <a:buNone/>
            </a:pPr>
            <a:r>
              <a:rPr lang="en-US" dirty="0"/>
              <a:t>7. Lift the valve housing clear off the spindle.</a:t>
            </a:r>
          </a:p>
          <a:p>
            <a:pPr marL="0" indent="0">
              <a:buNone/>
            </a:pPr>
            <a:endParaRPr lang="en-US" dirty="0"/>
          </a:p>
          <a:p>
            <a:pPr marL="0" indent="0">
              <a:buNone/>
            </a:pPr>
            <a:r>
              <a:rPr lang="en-US" dirty="0"/>
              <a:t>8. Take out the air cylinder. Clean it and check the running surface for wear or possible scores. Measure the diameter of the air cylinder at four points diametrically opposite points using an inside micrometer.</a:t>
            </a:r>
          </a:p>
          <a:p>
            <a:pPr marL="0" indent="0">
              <a:buNone/>
            </a:pPr>
            <a:endParaRPr lang="en-US" dirty="0"/>
          </a:p>
        </p:txBody>
      </p:sp>
    </p:spTree>
    <p:extLst>
      <p:ext uri="{BB962C8B-B14F-4D97-AF65-F5344CB8AC3E}">
        <p14:creationId xmlns:p14="http://schemas.microsoft.com/office/powerpoint/2010/main" val="1023100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173734-FC5D-6486-7C2C-0642EA702D51}"/>
              </a:ext>
            </a:extLst>
          </p:cNvPr>
          <p:cNvPicPr>
            <a:picLocks noChangeAspect="1"/>
          </p:cNvPicPr>
          <p:nvPr/>
        </p:nvPicPr>
        <p:blipFill>
          <a:blip r:embed="rId2"/>
          <a:stretch>
            <a:fillRect/>
          </a:stretch>
        </p:blipFill>
        <p:spPr>
          <a:xfrm>
            <a:off x="518160" y="0"/>
            <a:ext cx="11064240" cy="6858000"/>
          </a:xfrm>
          <a:prstGeom prst="rect">
            <a:avLst/>
          </a:prstGeom>
        </p:spPr>
      </p:pic>
    </p:spTree>
    <p:extLst>
      <p:ext uri="{BB962C8B-B14F-4D97-AF65-F5344CB8AC3E}">
        <p14:creationId xmlns:p14="http://schemas.microsoft.com/office/powerpoint/2010/main" val="540273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1256ED-60F9-2FE9-74C8-6F27E3A2CEE4}"/>
              </a:ext>
            </a:extLst>
          </p:cNvPr>
          <p:cNvSpPr>
            <a:spLocks noGrp="1"/>
          </p:cNvSpPr>
          <p:nvPr>
            <p:ph idx="1"/>
          </p:nvPr>
        </p:nvSpPr>
        <p:spPr>
          <a:xfrm>
            <a:off x="457200" y="533400"/>
            <a:ext cx="11323320" cy="6141720"/>
          </a:xfrm>
        </p:spPr>
        <p:txBody>
          <a:bodyPr/>
          <a:lstStyle/>
          <a:p>
            <a:pPr marL="0" indent="0">
              <a:buNone/>
            </a:pPr>
            <a:r>
              <a:rPr lang="en-US" dirty="0"/>
              <a:t>9. Remove the screws and dismount the flange of the stuffing box.</a:t>
            </a:r>
          </a:p>
          <a:p>
            <a:endParaRPr lang="en-US" dirty="0"/>
          </a:p>
          <a:p>
            <a:pPr marL="0" indent="0">
              <a:buNone/>
            </a:pPr>
            <a:r>
              <a:rPr lang="en-US" dirty="0"/>
              <a:t>10. Remove and discard all the all the O-rings.</a:t>
            </a:r>
          </a:p>
          <a:p>
            <a:endParaRPr lang="en-US" dirty="0"/>
          </a:p>
          <a:p>
            <a:pPr marL="0" indent="0">
              <a:buNone/>
            </a:pPr>
            <a:r>
              <a:rPr lang="en-US" dirty="0"/>
              <a:t>11. Inspect the bushing in the spindle guide for wear. Measure the inside diameter of the air cylinder using an inside micrometer. Maximum clearance should be 1mm in the top part and 2 mm in the lower part of the sleeve.</a:t>
            </a:r>
          </a:p>
          <a:p>
            <a:endParaRPr lang="en-US" dirty="0"/>
          </a:p>
          <a:p>
            <a:endParaRPr lang="en-IN" dirty="0"/>
          </a:p>
        </p:txBody>
      </p:sp>
    </p:spTree>
    <p:extLst>
      <p:ext uri="{BB962C8B-B14F-4D97-AF65-F5344CB8AC3E}">
        <p14:creationId xmlns:p14="http://schemas.microsoft.com/office/powerpoint/2010/main" val="555715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825308-4FCD-8C7B-CFAA-1B0AE2D15B33}"/>
              </a:ext>
            </a:extLst>
          </p:cNvPr>
          <p:cNvPicPr>
            <a:picLocks noChangeAspect="1"/>
          </p:cNvPicPr>
          <p:nvPr/>
        </p:nvPicPr>
        <p:blipFill>
          <a:blip r:embed="rId2"/>
          <a:stretch>
            <a:fillRect/>
          </a:stretch>
        </p:blipFill>
        <p:spPr>
          <a:xfrm>
            <a:off x="1600200" y="0"/>
            <a:ext cx="9067800" cy="6858000"/>
          </a:xfrm>
          <a:prstGeom prst="rect">
            <a:avLst/>
          </a:prstGeom>
        </p:spPr>
      </p:pic>
    </p:spTree>
    <p:extLst>
      <p:ext uri="{BB962C8B-B14F-4D97-AF65-F5344CB8AC3E}">
        <p14:creationId xmlns:p14="http://schemas.microsoft.com/office/powerpoint/2010/main" val="2319955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C6930D-529A-BC4F-3264-81AA356BCDE3}"/>
              </a:ext>
            </a:extLst>
          </p:cNvPr>
          <p:cNvSpPr>
            <a:spLocks noGrp="1"/>
          </p:cNvSpPr>
          <p:nvPr>
            <p:ph idx="1"/>
          </p:nvPr>
        </p:nvSpPr>
        <p:spPr>
          <a:xfrm>
            <a:off x="396240" y="594360"/>
            <a:ext cx="10957560" cy="6004560"/>
          </a:xfrm>
        </p:spPr>
        <p:txBody>
          <a:bodyPr/>
          <a:lstStyle/>
          <a:p>
            <a:pPr marL="0" indent="0">
              <a:buNone/>
            </a:pPr>
            <a:r>
              <a:rPr lang="en-US" dirty="0"/>
              <a:t>12. Unscrew and remove the lock screws which hold the bottom piece.</a:t>
            </a:r>
          </a:p>
          <a:p>
            <a:pPr marL="0" indent="0">
              <a:buNone/>
            </a:pPr>
            <a:endParaRPr lang="en-US" dirty="0"/>
          </a:p>
          <a:p>
            <a:pPr marL="0" indent="0">
              <a:buNone/>
            </a:pPr>
            <a:r>
              <a:rPr lang="en-US" dirty="0"/>
              <a:t>13. Lift the valve housing approximately 10mm above the ground.</a:t>
            </a:r>
          </a:p>
          <a:p>
            <a:pPr marL="0" indent="0">
              <a:buNone/>
            </a:pPr>
            <a:endParaRPr lang="en-US" dirty="0"/>
          </a:p>
          <a:p>
            <a:pPr marL="0" indent="0">
              <a:buNone/>
            </a:pPr>
            <a:r>
              <a:rPr lang="en-US" dirty="0"/>
              <a:t>14. With the help of a feeler gauge, check clearance between the valve and the seat. A 1mm feeler gauge should go up to 15 mm deep. This is to ensure that there is clearance between the outer parts of the seating faces of valve housing and spindle.</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899948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F54120-3A3A-6E79-602D-714E39A59F18}"/>
              </a:ext>
            </a:extLst>
          </p:cNvPr>
          <p:cNvPicPr>
            <a:picLocks noChangeAspect="1"/>
          </p:cNvPicPr>
          <p:nvPr/>
        </p:nvPicPr>
        <p:blipFill>
          <a:blip r:embed="rId2"/>
          <a:stretch>
            <a:fillRect/>
          </a:stretch>
        </p:blipFill>
        <p:spPr>
          <a:xfrm>
            <a:off x="701040" y="28575"/>
            <a:ext cx="10698480" cy="6800850"/>
          </a:xfrm>
          <a:prstGeom prst="rect">
            <a:avLst/>
          </a:prstGeom>
        </p:spPr>
      </p:pic>
    </p:spTree>
    <p:extLst>
      <p:ext uri="{BB962C8B-B14F-4D97-AF65-F5344CB8AC3E}">
        <p14:creationId xmlns:p14="http://schemas.microsoft.com/office/powerpoint/2010/main" val="3836823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E43264-E5AD-19FC-4228-848A7952A729}"/>
              </a:ext>
            </a:extLst>
          </p:cNvPr>
          <p:cNvSpPr>
            <a:spLocks noGrp="1"/>
          </p:cNvSpPr>
          <p:nvPr>
            <p:ph idx="1"/>
          </p:nvPr>
        </p:nvSpPr>
        <p:spPr>
          <a:xfrm>
            <a:off x="472440" y="502920"/>
            <a:ext cx="11109960" cy="6141720"/>
          </a:xfrm>
        </p:spPr>
        <p:txBody>
          <a:bodyPr>
            <a:normAutofit/>
          </a:bodyPr>
          <a:lstStyle/>
          <a:p>
            <a:pPr marL="0" indent="0">
              <a:buNone/>
            </a:pPr>
            <a:r>
              <a:rPr lang="en-US" dirty="0"/>
              <a:t>15. Now take out the valve seat using the tin hammer.</a:t>
            </a:r>
          </a:p>
          <a:p>
            <a:pPr marL="0" indent="0">
              <a:buNone/>
            </a:pPr>
            <a:endParaRPr lang="en-US" dirty="0"/>
          </a:p>
          <a:p>
            <a:pPr marL="0" indent="0">
              <a:buNone/>
            </a:pPr>
            <a:r>
              <a:rPr lang="en-US" dirty="0"/>
              <a:t>16. Lift the valve housing and place it on a couple of wooden planks.</a:t>
            </a:r>
          </a:p>
          <a:p>
            <a:pPr marL="0" indent="0">
              <a:buNone/>
            </a:pPr>
            <a:endParaRPr lang="en-US" dirty="0"/>
          </a:p>
          <a:p>
            <a:pPr marL="0" indent="0">
              <a:buNone/>
            </a:pPr>
            <a:r>
              <a:rPr lang="en-US" dirty="0"/>
              <a:t>17. Discard the O-ring from the groove on top of the valve seat.</a:t>
            </a:r>
          </a:p>
          <a:p>
            <a:pPr marL="0" indent="0">
              <a:buNone/>
            </a:pPr>
            <a:endParaRPr lang="en-US" dirty="0"/>
          </a:p>
          <a:p>
            <a:pPr marL="0" indent="0">
              <a:buNone/>
            </a:pPr>
            <a:r>
              <a:rPr lang="en-US" dirty="0"/>
              <a:t>18. Check for burnout marks in the valve face and seat.</a:t>
            </a:r>
          </a:p>
          <a:p>
            <a:pPr marL="0" indent="0">
              <a:buNone/>
            </a:pPr>
            <a:endParaRPr lang="en-US" dirty="0"/>
          </a:p>
          <a:p>
            <a:pPr marL="0" indent="0">
              <a:buNone/>
            </a:pPr>
            <a:r>
              <a:rPr lang="en-US" dirty="0"/>
              <a:t>19. Check for cracks and breakage of rotary vanes attached to the valve spindle.</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226399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B16281-699D-3834-3361-E0509A72519E}"/>
              </a:ext>
            </a:extLst>
          </p:cNvPr>
          <p:cNvSpPr>
            <a:spLocks noGrp="1"/>
          </p:cNvSpPr>
          <p:nvPr>
            <p:ph idx="1"/>
          </p:nvPr>
        </p:nvSpPr>
        <p:spPr>
          <a:xfrm>
            <a:off x="472440" y="441960"/>
            <a:ext cx="11216640" cy="6263640"/>
          </a:xfrm>
        </p:spPr>
        <p:txBody>
          <a:bodyPr>
            <a:normAutofit/>
          </a:bodyPr>
          <a:lstStyle/>
          <a:p>
            <a:pPr marL="0" indent="0">
              <a:buNone/>
            </a:pPr>
            <a:r>
              <a:rPr lang="en-US" dirty="0"/>
              <a:t>20. Check scoring mark in the valve seat and valve face. This indicates valve rotator is not working and is leading to </a:t>
            </a:r>
            <a:r>
              <a:rPr lang="en-US" dirty="0" err="1"/>
              <a:t>localised</a:t>
            </a:r>
            <a:r>
              <a:rPr lang="en-US" dirty="0"/>
              <a:t> burning or leakage.</a:t>
            </a:r>
          </a:p>
          <a:p>
            <a:pPr marL="0" indent="0">
              <a:buNone/>
            </a:pPr>
            <a:endParaRPr lang="en-US" dirty="0"/>
          </a:p>
          <a:p>
            <a:pPr marL="0" indent="0">
              <a:buNone/>
            </a:pPr>
            <a:r>
              <a:rPr lang="en-US" dirty="0"/>
              <a:t>21. Inspect the seating of the bottom piece for damage with the template for damage measure the clearance G3 between the template and the O-ring groove using a feeler gauge.</a:t>
            </a:r>
          </a:p>
          <a:p>
            <a:pPr marL="0" indent="0">
              <a:buNone/>
            </a:pPr>
            <a:endParaRPr lang="en-US" dirty="0"/>
          </a:p>
          <a:p>
            <a:pPr marL="0" indent="0">
              <a:buNone/>
            </a:pPr>
            <a:r>
              <a:rPr lang="en-US" dirty="0"/>
              <a:t>22. Measure the clearance G2 between the template and the valve seat using a feeler gauge.</a:t>
            </a:r>
          </a:p>
          <a:p>
            <a:pPr marL="0" indent="0">
              <a:buNone/>
            </a:pPr>
            <a:endParaRPr lang="en-US" dirty="0"/>
          </a:p>
          <a:p>
            <a:pPr marL="0" indent="0">
              <a:buNone/>
            </a:pPr>
            <a:r>
              <a:rPr lang="en-US" dirty="0"/>
              <a:t>23. Take and record the measurements at four diametrically opposite points on the circumference of the valve spindle.</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190865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8AD287-6DEC-A934-9E9D-51E4C6DC8A0C}"/>
              </a:ext>
            </a:extLst>
          </p:cNvPr>
          <p:cNvPicPr>
            <a:picLocks noChangeAspect="1"/>
          </p:cNvPicPr>
          <p:nvPr/>
        </p:nvPicPr>
        <p:blipFill>
          <a:blip r:embed="rId2"/>
          <a:stretch>
            <a:fillRect/>
          </a:stretch>
        </p:blipFill>
        <p:spPr>
          <a:xfrm>
            <a:off x="1066800" y="0"/>
            <a:ext cx="10012680" cy="6858000"/>
          </a:xfrm>
          <a:prstGeom prst="rect">
            <a:avLst/>
          </a:prstGeom>
        </p:spPr>
      </p:pic>
    </p:spTree>
    <p:extLst>
      <p:ext uri="{BB962C8B-B14F-4D97-AF65-F5344CB8AC3E}">
        <p14:creationId xmlns:p14="http://schemas.microsoft.com/office/powerpoint/2010/main" val="320284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1595DB-AA28-A108-BD7A-2B0C0F5714B5}"/>
              </a:ext>
            </a:extLst>
          </p:cNvPr>
          <p:cNvSpPr>
            <a:spLocks noGrp="1"/>
          </p:cNvSpPr>
          <p:nvPr>
            <p:ph idx="1"/>
          </p:nvPr>
        </p:nvSpPr>
        <p:spPr>
          <a:xfrm>
            <a:off x="563880" y="594360"/>
            <a:ext cx="11094720" cy="6019800"/>
          </a:xfrm>
        </p:spPr>
        <p:txBody>
          <a:bodyPr>
            <a:normAutofit/>
          </a:bodyPr>
          <a:lstStyle/>
          <a:p>
            <a:pPr marL="0" indent="0">
              <a:buNone/>
            </a:pPr>
            <a:r>
              <a:rPr lang="en-US" dirty="0"/>
              <a:t>24. Clean the contact faces on the spindle &amp; measure the gap between spindle template and seating of the spindle</a:t>
            </a:r>
          </a:p>
          <a:p>
            <a:pPr marL="0" indent="0">
              <a:buNone/>
            </a:pPr>
            <a:endParaRPr lang="en-US" dirty="0"/>
          </a:p>
          <a:p>
            <a:pPr marL="0" indent="0">
              <a:buNone/>
            </a:pPr>
            <a:r>
              <a:rPr lang="en-US" dirty="0"/>
              <a:t>25. Check the burn of F1 of the valve spindle at each of the points A, B, C, D &amp; E. The notches in the spindle template indicate the points</a:t>
            </a:r>
          </a:p>
          <a:p>
            <a:pPr marL="0" indent="0">
              <a:buNone/>
            </a:pPr>
            <a:endParaRPr lang="en-US" dirty="0"/>
          </a:p>
          <a:p>
            <a:pPr marL="0" indent="0">
              <a:buNone/>
            </a:pPr>
            <a:r>
              <a:rPr lang="en-US" dirty="0"/>
              <a:t>26. Check the spindle stem for wear in the area between 460 mm and 620 mm measured from the top of the spindle take and record the measurements at four diametrically opposite points on the circumference of the valve spindle</a:t>
            </a:r>
          </a:p>
          <a:p>
            <a:endParaRPr lang="en-US" dirty="0"/>
          </a:p>
          <a:p>
            <a:pPr marL="0" indent="0">
              <a:buNone/>
            </a:pPr>
            <a:endParaRPr lang="en-IN" dirty="0"/>
          </a:p>
        </p:txBody>
      </p:sp>
    </p:spTree>
    <p:extLst>
      <p:ext uri="{BB962C8B-B14F-4D97-AF65-F5344CB8AC3E}">
        <p14:creationId xmlns:p14="http://schemas.microsoft.com/office/powerpoint/2010/main" val="159217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BDA11C-ABEE-9122-4866-2883743F72E2}"/>
              </a:ext>
            </a:extLst>
          </p:cNvPr>
          <p:cNvPicPr>
            <a:picLocks noChangeAspect="1"/>
          </p:cNvPicPr>
          <p:nvPr/>
        </p:nvPicPr>
        <p:blipFill>
          <a:blip r:embed="rId2"/>
          <a:stretch>
            <a:fillRect/>
          </a:stretch>
        </p:blipFill>
        <p:spPr>
          <a:xfrm>
            <a:off x="1112520" y="0"/>
            <a:ext cx="9677399" cy="6858000"/>
          </a:xfrm>
          <a:prstGeom prst="rect">
            <a:avLst/>
          </a:prstGeom>
        </p:spPr>
      </p:pic>
    </p:spTree>
    <p:extLst>
      <p:ext uri="{BB962C8B-B14F-4D97-AF65-F5344CB8AC3E}">
        <p14:creationId xmlns:p14="http://schemas.microsoft.com/office/powerpoint/2010/main" val="469964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78A592-76B5-3950-4FD9-D7704B597D6A}"/>
              </a:ext>
            </a:extLst>
          </p:cNvPr>
          <p:cNvSpPr>
            <a:spLocks noGrp="1"/>
          </p:cNvSpPr>
          <p:nvPr>
            <p:ph idx="1"/>
          </p:nvPr>
        </p:nvSpPr>
        <p:spPr>
          <a:xfrm>
            <a:off x="289560" y="472440"/>
            <a:ext cx="11551920" cy="6385560"/>
          </a:xfrm>
        </p:spPr>
        <p:txBody>
          <a:bodyPr>
            <a:normAutofit lnSpcReduction="10000"/>
          </a:bodyPr>
          <a:lstStyle/>
          <a:p>
            <a:pPr marL="0" indent="0">
              <a:buNone/>
            </a:pPr>
            <a:r>
              <a:rPr lang="en-US" dirty="0"/>
              <a:t>27. Check condition of thrust pads in the exhaust valve</a:t>
            </a:r>
          </a:p>
          <a:p>
            <a:pPr marL="0" indent="0">
              <a:buNone/>
            </a:pPr>
            <a:endParaRPr lang="en-US" dirty="0"/>
          </a:p>
          <a:p>
            <a:pPr marL="0" indent="0">
              <a:buNone/>
            </a:pPr>
            <a:r>
              <a:rPr lang="en-US" dirty="0"/>
              <a:t>28. Check the actuator for marks on the sealing surface</a:t>
            </a:r>
          </a:p>
          <a:p>
            <a:pPr marL="0" indent="0">
              <a:buNone/>
            </a:pPr>
            <a:endParaRPr lang="en-US" dirty="0"/>
          </a:p>
          <a:p>
            <a:pPr marL="0" indent="0">
              <a:buNone/>
            </a:pPr>
            <a:r>
              <a:rPr lang="en-US" dirty="0"/>
              <a:t>29. If the seating surface is too much worn they must be reconditioned by grinding.</a:t>
            </a:r>
          </a:p>
          <a:p>
            <a:pPr marL="0" indent="0">
              <a:buNone/>
            </a:pPr>
            <a:endParaRPr lang="en-US" dirty="0"/>
          </a:p>
          <a:p>
            <a:pPr marL="0" indent="0">
              <a:buNone/>
            </a:pPr>
            <a:r>
              <a:rPr lang="en-US" dirty="0"/>
              <a:t>30. Check the surface of hydraulic pipe connecting face for surface deformation, indicating leakage or incorrect tightness</a:t>
            </a:r>
          </a:p>
          <a:p>
            <a:pPr marL="0" indent="0">
              <a:buNone/>
            </a:pPr>
            <a:endParaRPr lang="en-US" dirty="0"/>
          </a:p>
          <a:p>
            <a:pPr marL="0" indent="0">
              <a:buNone/>
            </a:pPr>
            <a:r>
              <a:rPr lang="en-US" dirty="0"/>
              <a:t>31. Before fitting the exhaust valve back (or a new one), check the operation of “closing” by lifting the valve with engine room crane. Once it is clear off the ground, the valve will be in the open position. Connect air hose with compressed air supply to pneumatic piston inlet and open the air supply. This will close/ shut the valve.</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896470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E4C92D-AF15-5FC5-5A57-200B36492607}"/>
              </a:ext>
            </a:extLst>
          </p:cNvPr>
          <p:cNvSpPr>
            <a:spLocks noGrp="1"/>
          </p:cNvSpPr>
          <p:nvPr>
            <p:ph idx="1"/>
          </p:nvPr>
        </p:nvSpPr>
        <p:spPr>
          <a:xfrm>
            <a:off x="838200" y="899160"/>
            <a:ext cx="10515600" cy="5806439"/>
          </a:xfrm>
        </p:spPr>
        <p:txBody>
          <a:bodyPr/>
          <a:lstStyle/>
          <a:p>
            <a:pPr marL="0" indent="0">
              <a:buNone/>
            </a:pPr>
            <a:r>
              <a:rPr lang="en-US" dirty="0"/>
              <a:t>32. Once the valve is closed, shut off the air supply and keep it in that position for 15 minutes and check that it does not open. This means that the air piston does not have leakage.</a:t>
            </a:r>
          </a:p>
          <a:p>
            <a:endParaRPr lang="en-US" dirty="0"/>
          </a:p>
          <a:p>
            <a:pPr marL="0" indent="0">
              <a:buNone/>
            </a:pPr>
            <a:r>
              <a:rPr lang="en-US" dirty="0"/>
              <a:t>33. Open the vent plug screw located on the air cylinder- this will bring the valve in open condition.</a:t>
            </a:r>
          </a:p>
          <a:p>
            <a:endParaRPr lang="en-IN" dirty="0"/>
          </a:p>
        </p:txBody>
      </p:sp>
    </p:spTree>
    <p:extLst>
      <p:ext uri="{BB962C8B-B14F-4D97-AF65-F5344CB8AC3E}">
        <p14:creationId xmlns:p14="http://schemas.microsoft.com/office/powerpoint/2010/main" val="3014950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9C9934-E282-F72C-50A5-0EA60AC3D51B}"/>
              </a:ext>
            </a:extLst>
          </p:cNvPr>
          <p:cNvSpPr>
            <a:spLocks noGrp="1"/>
          </p:cNvSpPr>
          <p:nvPr>
            <p:ph idx="1"/>
          </p:nvPr>
        </p:nvSpPr>
        <p:spPr>
          <a:xfrm>
            <a:off x="838200" y="655320"/>
            <a:ext cx="10805160" cy="5684520"/>
          </a:xfrm>
        </p:spPr>
        <p:txBody>
          <a:bodyPr>
            <a:normAutofit fontScale="92500" lnSpcReduction="20000"/>
          </a:bodyPr>
          <a:lstStyle/>
          <a:p>
            <a:pPr marL="342900" lvl="0" indent="-342900">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3. VALVE GRINDING</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For larger engines (2-stroke) the valve(s) can be ground. Valve grinding is not a difficult operation if certain precautions are taken.</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Check if the seat is badly pitted or corroded, in which case no amount of grinding would help.</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Another important precaution is to ensure that the valve stem is straight.</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valves should be ground with special machine tools and benches provided by the engine manufacturers.</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57859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B57193-A2DB-4A7F-2F2F-655923B5B9CD}"/>
              </a:ext>
            </a:extLst>
          </p:cNvPr>
          <p:cNvSpPr>
            <a:spLocks noGrp="1"/>
          </p:cNvSpPr>
          <p:nvPr>
            <p:ph idx="1"/>
          </p:nvPr>
        </p:nvSpPr>
        <p:spPr>
          <a:xfrm>
            <a:off x="0" y="228600"/>
            <a:ext cx="12039600" cy="6492240"/>
          </a:xfrm>
        </p:spPr>
        <p:txBody>
          <a:bodyPr>
            <a:normAutofit fontScale="92500" lnSpcReduction="10000"/>
          </a:bodyPr>
          <a:lstStyle/>
          <a:p>
            <a:pPr marL="342900" lvl="0" indent="-342900">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Apply paste on the valves faces or cylinder head seats faces. Continue the valves grinding until you see a continuous foggy belt on the valve face and the valve seat face, not less than 1.5 mm wide. The belt breakings or scratches are not acceptable. Wash the head and the valves after grinding. When assembling the head apply motor oil on the valve stems.</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Repeated grinding of a valve, without any control, is not a correct practice on account of two reasons. One, the valve-lid continues to get progressively thinner and thus it not only loses its inherent strength but the hard stellite coating (for exhaust valves in particular) on the valve lid will be abraded and this may lead to rapid failure of the valve. Besides, with uncontrolled grinding and thinning of the lid, and with the spindle having a fixed groove (around 75% up the spindle-end on top) for fitment of the cotters to secure the spindle in the spring-caps, there is a possibility that the sealing of the valve vis-à-vis the valve seat may be impaired.</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314861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TotalTime>
  <Words>1353</Words>
  <Application>Microsoft Office PowerPoint</Application>
  <PresentationFormat>Widescreen</PresentationFormat>
  <Paragraphs>98</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Roboto</vt:lpstr>
      <vt:lpstr>Wingdings</vt:lpstr>
      <vt:lpstr>Office Theme</vt:lpstr>
      <vt:lpstr>MAIN ENGINE EXHAUST VALVE OVERHAUL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Tamjid Anjum</dc:creator>
  <cp:lastModifiedBy>Tamjid Anjum</cp:lastModifiedBy>
  <cp:revision>1</cp:revision>
  <dcterms:created xsi:type="dcterms:W3CDTF">2024-06-20T10:38:08Z</dcterms:created>
  <dcterms:modified xsi:type="dcterms:W3CDTF">2024-06-20T18:06:18Z</dcterms:modified>
</cp:coreProperties>
</file>